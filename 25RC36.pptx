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8"/>
  </p:notesMasterIdLst>
  <p:sldIdLst>
    <p:sldId id="256" r:id="rId2"/>
    <p:sldId id="257" r:id="rId3"/>
    <p:sldId id="258" r:id="rId4"/>
    <p:sldId id="291" r:id="rId5"/>
    <p:sldId id="292" r:id="rId6"/>
    <p:sldId id="296" r:id="rId7"/>
    <p:sldId id="260" r:id="rId8"/>
    <p:sldId id="262" r:id="rId9"/>
    <p:sldId id="264" r:id="rId10"/>
    <p:sldId id="265" r:id="rId11"/>
    <p:sldId id="263" r:id="rId12"/>
    <p:sldId id="266" r:id="rId13"/>
    <p:sldId id="294" r:id="rId14"/>
    <p:sldId id="267" r:id="rId15"/>
    <p:sldId id="295" r:id="rId16"/>
    <p:sldId id="293" r:id="rId17"/>
  </p:sldIdLst>
  <p:sldSz cx="9144000" cy="5143500" type="screen16x9"/>
  <p:notesSz cx="6858000" cy="9144000"/>
  <p:embeddedFontLst>
    <p:embeddedFont>
      <p:font typeface="Anaheim" panose="020B0604020202020204" charset="0"/>
      <p:regular r:id="rId19"/>
      <p:bold r:id="rId20"/>
    </p:embeddedFont>
    <p:embeddedFont>
      <p:font typeface="Arimo" panose="020B0604020202020204" charset="0"/>
      <p:regular r:id="rId21"/>
      <p:bold r:id="rId22"/>
      <p:italic r:id="rId23"/>
      <p:boldItalic r:id="rId24"/>
    </p:embeddedFont>
    <p:embeddedFont>
      <p:font typeface="Bebas Neue" panose="020B0606020202050201" pitchFamily="34" charset="0"/>
      <p:regular r:id="rId25"/>
    </p:embeddedFont>
    <p:embeddedFont>
      <p:font typeface="Footlight MT Light" panose="0204060206030A020304" pitchFamily="18" charset="0"/>
      <p:regular r:id="rId26"/>
    </p:embeddedFont>
    <p:embeddedFont>
      <p:font typeface="Nunito Light" pitchFamily="2" charset="0"/>
      <p:regular r:id="rId27"/>
      <p:italic r:id="rId28"/>
    </p:embeddedFont>
    <p:embeddedFont>
      <p:font typeface="Open Sans Light" panose="020B0306030504020204" pitchFamily="34" charset="0"/>
      <p:regular r:id="rId29"/>
      <p:italic r:id="rId30"/>
    </p:embeddedFont>
    <p:embeddedFont>
      <p:font typeface="Outfit" panose="020B0604020202020204" charset="0"/>
      <p:regular r:id="rId31"/>
      <p:bold r:id="rId32"/>
    </p:embeddedFont>
    <p:embeddedFont>
      <p:font typeface="Raleway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65BD459-9C6A-4324-976E-E1CFF95D7270}">
          <p14:sldIdLst>
            <p14:sldId id="256"/>
            <p14:sldId id="257"/>
            <p14:sldId id="258"/>
            <p14:sldId id="291"/>
            <p14:sldId id="292"/>
            <p14:sldId id="296"/>
            <p14:sldId id="260"/>
            <p14:sldId id="262"/>
            <p14:sldId id="264"/>
            <p14:sldId id="265"/>
            <p14:sldId id="263"/>
            <p14:sldId id="266"/>
            <p14:sldId id="294"/>
            <p14:sldId id="267"/>
            <p14:sldId id="295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7361DE-8276-421A-9244-66285CFB6337}">
  <a:tblStyle styleId="{F57361DE-8276-421A-9244-66285CFB63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Footlight MT Light" panose="0204060206030A020304" pitchFamily="18" charset="0"/>
        <a:ea typeface="Footlight MT Light" panose="0204060206030A020304" pitchFamily="18" charset="0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7f5564524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7f5564524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92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Footlight MT Light" panose="0204060206030A020304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1363350"/>
            <a:ext cx="7717500" cy="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Footlight MT Light" panose="0204060206030A020304" pitchFamily="18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448" t="15268" r="28413" b="40215"/>
          <a:stretch/>
        </p:blipFill>
        <p:spPr>
          <a:xfrm>
            <a:off x="4917025" y="2254925"/>
            <a:ext cx="4226974" cy="288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20000" y="536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4656872" y="3479300"/>
            <a:ext cx="37740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713225" y="3479300"/>
            <a:ext cx="37740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713225" y="3011925"/>
            <a:ext cx="3774000" cy="46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4656921" y="3011925"/>
            <a:ext cx="3774000" cy="46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t="43938" r="58155" b="-39"/>
          <a:stretch/>
        </p:blipFill>
        <p:spPr>
          <a:xfrm>
            <a:off x="6428625" y="-1"/>
            <a:ext cx="2715374" cy="364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713225" y="1584375"/>
            <a:ext cx="3774000" cy="16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 dirty="0"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Footlight MT Light" panose="0204060206030A02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7"/>
          <p:cNvSpPr>
            <a:spLocks noGrp="1"/>
          </p:cNvSpPr>
          <p:nvPr>
            <p:ph type="pic" idx="2"/>
          </p:nvPr>
        </p:nvSpPr>
        <p:spPr>
          <a:xfrm>
            <a:off x="4650075" y="1584375"/>
            <a:ext cx="3774000" cy="1419900"/>
          </a:xfrm>
          <a:prstGeom prst="rect">
            <a:avLst/>
          </a:prstGeom>
          <a:noFill/>
          <a:ln>
            <a:noFill/>
          </a:ln>
        </p:spPr>
      </p:sp>
      <p:pic>
        <p:nvPicPr>
          <p:cNvPr id="34" name="Google Shape;34;p7"/>
          <p:cNvPicPr preferRelativeResize="0"/>
          <p:nvPr/>
        </p:nvPicPr>
        <p:blipFill rotWithShape="1">
          <a:blip r:embed="rId2">
            <a:alphaModFix/>
          </a:blip>
          <a:srcRect l="29903" b="52159"/>
          <a:stretch/>
        </p:blipFill>
        <p:spPr>
          <a:xfrm>
            <a:off x="0" y="2039225"/>
            <a:ext cx="4548450" cy="31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>
            <a:spLocks noGrp="1"/>
          </p:cNvSpPr>
          <p:nvPr>
            <p:ph type="pic" idx="3"/>
          </p:nvPr>
        </p:nvSpPr>
        <p:spPr>
          <a:xfrm>
            <a:off x="4650075" y="3184100"/>
            <a:ext cx="3774000" cy="141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/>
          <p:cNvPicPr preferRelativeResize="0"/>
          <p:nvPr/>
        </p:nvPicPr>
        <p:blipFill rotWithShape="1">
          <a:blip r:embed="rId2">
            <a:alphaModFix/>
          </a:blip>
          <a:srcRect t="43938" r="58155" b="-39"/>
          <a:stretch/>
        </p:blipFill>
        <p:spPr>
          <a:xfrm>
            <a:off x="6428625" y="-1"/>
            <a:ext cx="2715374" cy="364032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latin typeface="Footlight MT Light" panose="0204060206030A02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 rotWithShape="1">
          <a:blip r:embed="rId2">
            <a:alphaModFix/>
          </a:blip>
          <a:srcRect l="29903" b="52159"/>
          <a:stretch/>
        </p:blipFill>
        <p:spPr>
          <a:xfrm>
            <a:off x="0" y="2039225"/>
            <a:ext cx="4548450" cy="31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6000">
                <a:latin typeface="Footlight MT Light" panose="0204060206030A0203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500">
                <a:latin typeface="Footlight MT Light" panose="0204060206030A0203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 r="50072" b="37834"/>
          <a:stretch/>
        </p:blipFill>
        <p:spPr>
          <a:xfrm rot="-5400000">
            <a:off x="5528325" y="-421425"/>
            <a:ext cx="3239725" cy="403397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713225" y="941362"/>
            <a:ext cx="50886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latin typeface="Footlight MT Light" panose="0204060206030A020304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rPr dirty="0"/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713225" y="1932412"/>
            <a:ext cx="5088600" cy="4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l="29903" b="52159"/>
          <a:stretch/>
        </p:blipFill>
        <p:spPr>
          <a:xfrm rot="10800000">
            <a:off x="4595550" y="0"/>
            <a:ext cx="4548450" cy="31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754900"/>
            <a:ext cx="8388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 hasCustomPrompt="1"/>
          </p:nvPr>
        </p:nvSpPr>
        <p:spPr>
          <a:xfrm>
            <a:off x="713225" y="3275363"/>
            <a:ext cx="8388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4" hasCustomPrompt="1"/>
          </p:nvPr>
        </p:nvSpPr>
        <p:spPr>
          <a:xfrm>
            <a:off x="3342325" y="1754900"/>
            <a:ext cx="8388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5" hasCustomPrompt="1"/>
          </p:nvPr>
        </p:nvSpPr>
        <p:spPr>
          <a:xfrm>
            <a:off x="3342325" y="3275363"/>
            <a:ext cx="8388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 hasCustomPrompt="1"/>
          </p:nvPr>
        </p:nvSpPr>
        <p:spPr>
          <a:xfrm>
            <a:off x="5971425" y="1754900"/>
            <a:ext cx="8388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 hasCustomPrompt="1"/>
          </p:nvPr>
        </p:nvSpPr>
        <p:spPr>
          <a:xfrm>
            <a:off x="5971425" y="3275363"/>
            <a:ext cx="8388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713225" y="2202258"/>
            <a:ext cx="24459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8"/>
          </p:nvPr>
        </p:nvSpPr>
        <p:spPr>
          <a:xfrm>
            <a:off x="3342330" y="2202258"/>
            <a:ext cx="24459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9"/>
          </p:nvPr>
        </p:nvSpPr>
        <p:spPr>
          <a:xfrm>
            <a:off x="5971427" y="2202258"/>
            <a:ext cx="24459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3"/>
          </p:nvPr>
        </p:nvSpPr>
        <p:spPr>
          <a:xfrm>
            <a:off x="713225" y="3722800"/>
            <a:ext cx="24459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4"/>
          </p:nvPr>
        </p:nvSpPr>
        <p:spPr>
          <a:xfrm>
            <a:off x="3342330" y="3722800"/>
            <a:ext cx="24459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5"/>
          </p:nvPr>
        </p:nvSpPr>
        <p:spPr>
          <a:xfrm>
            <a:off x="5971427" y="3722800"/>
            <a:ext cx="24459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 l="29903" b="56219"/>
          <a:stretch/>
        </p:blipFill>
        <p:spPr>
          <a:xfrm rot="5400000" flipH="1">
            <a:off x="-861575" y="1448850"/>
            <a:ext cx="4548450" cy="28408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Footlight MT Light" panose="0204060206030A02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2">
            <a:alphaModFix/>
          </a:blip>
          <a:srcRect l="29903" b="52159"/>
          <a:stretch/>
        </p:blipFill>
        <p:spPr>
          <a:xfrm rot="-5400000" flipH="1">
            <a:off x="5317650" y="722087"/>
            <a:ext cx="4548450" cy="31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Footlight MT Light" panose="0204060206030A02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 rotWithShape="1">
          <a:blip r:embed="rId2">
            <a:alphaModFix/>
          </a:blip>
          <a:srcRect r="55553" b="37834"/>
          <a:stretch/>
        </p:blipFill>
        <p:spPr>
          <a:xfrm rot="5400000">
            <a:off x="585700" y="1697050"/>
            <a:ext cx="2884175" cy="40339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720000" y="539488"/>
            <a:ext cx="35979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720000" y="1602688"/>
            <a:ext cx="3597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2">
            <a:alphaModFix/>
          </a:blip>
          <a:srcRect l="37992" t="12342" r="-8089" b="39817"/>
          <a:stretch/>
        </p:blipFill>
        <p:spPr>
          <a:xfrm>
            <a:off x="0" y="2039225"/>
            <a:ext cx="4548450" cy="31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77175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>
                <a:latin typeface="Footlight MT Light" panose="0204060206030A02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488849" y="2398525"/>
            <a:ext cx="49419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>
                <a:latin typeface="Footlight MT Light" panose="0204060206030A020304" pitchFamily="18" charset="0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 rotWithShape="1">
          <a:blip r:embed="rId2">
            <a:alphaModFix/>
          </a:blip>
          <a:srcRect l="42976" t="8608" r="8130" b="53370"/>
          <a:stretch/>
        </p:blipFill>
        <p:spPr>
          <a:xfrm>
            <a:off x="0" y="2676375"/>
            <a:ext cx="3172500" cy="24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1"/>
          </p:nvPr>
        </p:nvSpPr>
        <p:spPr>
          <a:xfrm>
            <a:off x="720000" y="2371726"/>
            <a:ext cx="2452500" cy="12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89" name="Google Shape;89;p19"/>
          <p:cNvSpPr txBox="1">
            <a:spLocks noGrp="1"/>
          </p:cNvSpPr>
          <p:nvPr>
            <p:ph type="subTitle" idx="2"/>
          </p:nvPr>
        </p:nvSpPr>
        <p:spPr>
          <a:xfrm>
            <a:off x="3345747" y="2371726"/>
            <a:ext cx="2452500" cy="12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3"/>
          </p:nvPr>
        </p:nvSpPr>
        <p:spPr>
          <a:xfrm>
            <a:off x="5971500" y="2371726"/>
            <a:ext cx="2452500" cy="12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4"/>
          </p:nvPr>
        </p:nvSpPr>
        <p:spPr>
          <a:xfrm>
            <a:off x="720000" y="1584375"/>
            <a:ext cx="2452500" cy="7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5"/>
          </p:nvPr>
        </p:nvSpPr>
        <p:spPr>
          <a:xfrm>
            <a:off x="3345753" y="1584375"/>
            <a:ext cx="2452500" cy="7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6"/>
          </p:nvPr>
        </p:nvSpPr>
        <p:spPr>
          <a:xfrm>
            <a:off x="5971505" y="1584375"/>
            <a:ext cx="2452500" cy="7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 rotWithShape="1">
          <a:blip r:embed="rId2">
            <a:alphaModFix/>
          </a:blip>
          <a:srcRect l="29903" b="52159"/>
          <a:stretch/>
        </p:blipFill>
        <p:spPr>
          <a:xfrm flipH="1">
            <a:off x="4595550" y="2036662"/>
            <a:ext cx="4548450" cy="31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Footlight MT Light" panose="0204060206030A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1"/>
          </p:nvPr>
        </p:nvSpPr>
        <p:spPr>
          <a:xfrm>
            <a:off x="713225" y="1943700"/>
            <a:ext cx="37671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20"/>
          <p:cNvSpPr txBox="1">
            <a:spLocks noGrp="1"/>
          </p:cNvSpPr>
          <p:nvPr>
            <p:ph type="subTitle" idx="2"/>
          </p:nvPr>
        </p:nvSpPr>
        <p:spPr>
          <a:xfrm>
            <a:off x="4656906" y="1943700"/>
            <a:ext cx="37671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3"/>
          </p:nvPr>
        </p:nvSpPr>
        <p:spPr>
          <a:xfrm>
            <a:off x="713225" y="3210950"/>
            <a:ext cx="37671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subTitle" idx="4"/>
          </p:nvPr>
        </p:nvSpPr>
        <p:spPr>
          <a:xfrm>
            <a:off x="4656906" y="3210950"/>
            <a:ext cx="37671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ootlight MT Light" panose="0204060206030A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20"/>
          <p:cNvSpPr txBox="1">
            <a:spLocks noGrp="1"/>
          </p:cNvSpPr>
          <p:nvPr>
            <p:ph type="subTitle" idx="5"/>
          </p:nvPr>
        </p:nvSpPr>
        <p:spPr>
          <a:xfrm>
            <a:off x="713225" y="1578850"/>
            <a:ext cx="37671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dirty="0"/>
          </a:p>
        </p:txBody>
      </p:sp>
      <p:sp>
        <p:nvSpPr>
          <p:cNvPr id="102" name="Google Shape;102;p20"/>
          <p:cNvSpPr txBox="1">
            <a:spLocks noGrp="1"/>
          </p:cNvSpPr>
          <p:nvPr>
            <p:ph type="subTitle" idx="6"/>
          </p:nvPr>
        </p:nvSpPr>
        <p:spPr>
          <a:xfrm>
            <a:off x="713225" y="2846275"/>
            <a:ext cx="37671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dirty="0"/>
          </a:p>
        </p:txBody>
      </p:sp>
      <p:sp>
        <p:nvSpPr>
          <p:cNvPr id="103" name="Google Shape;103;p20"/>
          <p:cNvSpPr txBox="1">
            <a:spLocks noGrp="1"/>
          </p:cNvSpPr>
          <p:nvPr>
            <p:ph type="subTitle" idx="7"/>
          </p:nvPr>
        </p:nvSpPr>
        <p:spPr>
          <a:xfrm>
            <a:off x="4656875" y="1578850"/>
            <a:ext cx="37671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dirty="0"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8"/>
          </p:nvPr>
        </p:nvSpPr>
        <p:spPr>
          <a:xfrm>
            <a:off x="4656875" y="2846275"/>
            <a:ext cx="37671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 b="1">
                <a:solidFill>
                  <a:schemeClr val="dk1"/>
                </a:solidFill>
                <a:latin typeface="Footlight MT Light" panose="0204060206030A020304" pitchFamily="18" charset="0"/>
                <a:ea typeface="Footlight MT Light" panose="0204060206030A020304" pitchFamily="18" charset="0"/>
                <a:cs typeface="Footlight MT Light" panose="0204060206030A020304" pitchFamily="18" charset="0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 rotWithShape="1">
          <a:blip r:embed="rId2">
            <a:alphaModFix/>
          </a:blip>
          <a:srcRect l="29903" b="55814"/>
          <a:stretch/>
        </p:blipFill>
        <p:spPr>
          <a:xfrm rot="5400000" flipH="1">
            <a:off x="-874697" y="1435725"/>
            <a:ext cx="4548450" cy="28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/>
          <p:cNvPicPr preferRelativeResize="0"/>
          <p:nvPr/>
        </p:nvPicPr>
        <p:blipFill rotWithShape="1">
          <a:blip r:embed="rId2">
            <a:alphaModFix/>
          </a:blip>
          <a:srcRect l="29903" b="52159"/>
          <a:stretch/>
        </p:blipFill>
        <p:spPr>
          <a:xfrm rot="-5400000" flipH="1">
            <a:off x="5317650" y="722087"/>
            <a:ext cx="4548450" cy="310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utfit"/>
              <a:buNone/>
              <a:defRPr sz="26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  <p:sldLayoutId id="2147483666" r:id="rId15"/>
    <p:sldLayoutId id="2147483668" r:id="rId16"/>
    <p:sldLayoutId id="2147483669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Footlight MT Light" panose="0204060206030A020304" pitchFamily="18" charset="0"/>
          <a:ea typeface="Footlight MT Light" panose="0204060206030A0203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Footlight MT Light" panose="0204060206030A020304" pitchFamily="18" charset="0"/>
          <a:ea typeface="Footlight MT Light" panose="0204060206030A0203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>
            <a:spLocks noGrp="1"/>
          </p:cNvSpPr>
          <p:nvPr>
            <p:ph type="ctrTitle"/>
          </p:nvPr>
        </p:nvSpPr>
        <p:spPr>
          <a:xfrm>
            <a:off x="713225" y="1052456"/>
            <a:ext cx="7717500" cy="92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Footlight MT Light" panose="0204060206030A020304" pitchFamily="18" charset="0"/>
              </a:rPr>
              <a:t>Legal Document Summarization using Transformers</a:t>
            </a:r>
            <a:endParaRPr sz="3600" dirty="0">
              <a:latin typeface="Footlight MT Light" panose="0204060206030A020304" pitchFamily="18" charset="0"/>
            </a:endParaRPr>
          </a:p>
        </p:txBody>
      </p:sp>
      <p:cxnSp>
        <p:nvCxnSpPr>
          <p:cNvPr id="131" name="Google Shape;131;p28"/>
          <p:cNvCxnSpPr/>
          <p:nvPr/>
        </p:nvCxnSpPr>
        <p:spPr>
          <a:xfrm>
            <a:off x="713225" y="2080650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57FAEB6-9FDF-CEF1-DFF7-55BC80243BB8}"/>
              </a:ext>
            </a:extLst>
          </p:cNvPr>
          <p:cNvSpPr txBox="1"/>
          <p:nvPr/>
        </p:nvSpPr>
        <p:spPr>
          <a:xfrm>
            <a:off x="5620214" y="2706049"/>
            <a:ext cx="24904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ootlight MT Light" panose="0204060206030A020304" pitchFamily="18" charset="0"/>
              </a:rPr>
              <a:t>Group Number: 25RC36</a:t>
            </a:r>
          </a:p>
          <a:p>
            <a:endParaRPr lang="en-US" dirty="0">
              <a:latin typeface="Footlight MT Light" panose="0204060206030A020304" pitchFamily="18" charset="0"/>
            </a:endParaRPr>
          </a:p>
          <a:p>
            <a:r>
              <a:rPr lang="en-US" b="1" dirty="0">
                <a:latin typeface="Footlight MT Light" panose="0204060206030A020304" pitchFamily="18" charset="0"/>
              </a:rPr>
              <a:t>Roll Numbers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2301AI08	   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2301AI29	   </a:t>
            </a:r>
          </a:p>
          <a:p>
            <a:r>
              <a:rPr lang="en-IN" dirty="0">
                <a:latin typeface="Footlight MT Light" panose="0204060206030A020304" pitchFamily="18" charset="0"/>
              </a:rPr>
              <a:t>2301AI34      </a:t>
            </a:r>
          </a:p>
          <a:p>
            <a:r>
              <a:rPr lang="en-IN" dirty="0">
                <a:latin typeface="Footlight MT Light" panose="0204060206030A020304" pitchFamily="18" charset="0"/>
              </a:rPr>
              <a:t>2302CS02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1B5F7-9426-54B7-944F-24CF692A275A}"/>
              </a:ext>
            </a:extLst>
          </p:cNvPr>
          <p:cNvSpPr txBox="1"/>
          <p:nvPr/>
        </p:nvSpPr>
        <p:spPr>
          <a:xfrm>
            <a:off x="713225" y="2755073"/>
            <a:ext cx="2880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Footlight MT Light" panose="0204060206030A020304" pitchFamily="18" charset="0"/>
              </a:rPr>
              <a:t>Course</a:t>
            </a:r>
            <a:r>
              <a:rPr lang="en-IN" dirty="0">
                <a:latin typeface="Footlight MT Light" panose="0204060206030A020304" pitchFamily="18" charset="0"/>
              </a:rPr>
              <a:t>:-Machine Learning(CS3103)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latin typeface="Footlight MT Light" panose="0204060206030A020304" pitchFamily="18" charset="0"/>
              </a:rPr>
              <a:t>Roles And Responsibilities</a:t>
            </a:r>
            <a:endParaRPr sz="3600" dirty="0">
              <a:latin typeface="Footlight MT Light" panose="0204060206030A020304" pitchFamily="18" charset="0"/>
            </a:endParaRPr>
          </a:p>
        </p:txBody>
      </p:sp>
      <p:sp>
        <p:nvSpPr>
          <p:cNvPr id="141" name="Google Shape;141;p29"/>
          <p:cNvSpPr txBox="1"/>
          <p:nvPr/>
        </p:nvSpPr>
        <p:spPr>
          <a:xfrm>
            <a:off x="713222" y="4142302"/>
            <a:ext cx="378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Footlight MT Light" panose="0204060206030A020304" pitchFamily="18" charset="0"/>
              <a:ea typeface="Arimo"/>
              <a:cs typeface="Arimo"/>
              <a:sym typeface="Arimo"/>
            </a:endParaRPr>
          </a:p>
        </p:txBody>
      </p:sp>
      <p:cxnSp>
        <p:nvCxnSpPr>
          <p:cNvPr id="143" name="Google Shape;143;p29"/>
          <p:cNvCxnSpPr/>
          <p:nvPr/>
        </p:nvCxnSpPr>
        <p:spPr>
          <a:xfrm>
            <a:off x="713250" y="1279575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A09993-43E4-322C-B42F-6C9917B5A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012545"/>
              </p:ext>
            </p:extLst>
          </p:nvPr>
        </p:nvGraphicFramePr>
        <p:xfrm>
          <a:off x="824622" y="1600858"/>
          <a:ext cx="7136901" cy="2870200"/>
        </p:xfrm>
        <a:graphic>
          <a:graphicData uri="http://schemas.openxmlformats.org/drawingml/2006/table">
            <a:tbl>
              <a:tblPr firstRow="1" bandRow="1">
                <a:tableStyleId>{F57361DE-8276-421A-9244-66285CFB6337}</a:tableStyleId>
              </a:tblPr>
              <a:tblGrid>
                <a:gridCol w="2365465">
                  <a:extLst>
                    <a:ext uri="{9D8B030D-6E8A-4147-A177-3AD203B41FA5}">
                      <a16:colId xmlns:a16="http://schemas.microsoft.com/office/drawing/2014/main" val="1202909099"/>
                    </a:ext>
                  </a:extLst>
                </a:gridCol>
                <a:gridCol w="2392469">
                  <a:extLst>
                    <a:ext uri="{9D8B030D-6E8A-4147-A177-3AD203B41FA5}">
                      <a16:colId xmlns:a16="http://schemas.microsoft.com/office/drawing/2014/main" val="89551765"/>
                    </a:ext>
                  </a:extLst>
                </a:gridCol>
                <a:gridCol w="2378967">
                  <a:extLst>
                    <a:ext uri="{9D8B030D-6E8A-4147-A177-3AD203B41FA5}">
                      <a16:colId xmlns:a16="http://schemas.microsoft.com/office/drawing/2014/main" val="2764063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740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Dheeraj (2301AI08)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Team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Title, abstract, intro, conclusion, scope, QA, repo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91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Sathvik (2301AI34)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Data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Literature survey, dataset sourcing, cleaning, preprocessing, EDA</a:t>
                      </a:r>
                      <a:endParaRPr lang="en-IN" dirty="0">
                        <a:solidFill>
                          <a:schemeClr val="tx1"/>
                        </a:solidFill>
                        <a:latin typeface="Footlight MT Light" panose="0204060206030A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265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Tanuj (2301AI29)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Implementation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Extraction and Assignment,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86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Koushik (2302CS02)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Inference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Footlight MT Light" panose="0204060206030A020304" pitchFamily="18" charset="0"/>
                        </a:rPr>
                        <a:t>fine-tune BART, Inference,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806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Introduction</a:t>
            </a:r>
            <a:endParaRPr sz="3600" dirty="0"/>
          </a:p>
        </p:txBody>
      </p:sp>
      <p:cxnSp>
        <p:nvCxnSpPr>
          <p:cNvPr id="161" name="Google Shape;161;p30"/>
          <p:cNvCxnSpPr/>
          <p:nvPr/>
        </p:nvCxnSpPr>
        <p:spPr>
          <a:xfrm>
            <a:off x="713250" y="1279575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EB6912A-1E62-EC81-E46D-A411625F438B}"/>
              </a:ext>
            </a:extLst>
          </p:cNvPr>
          <p:cNvSpPr txBox="1"/>
          <p:nvPr/>
        </p:nvSpPr>
        <p:spPr>
          <a:xfrm>
            <a:off x="719998" y="1511361"/>
            <a:ext cx="77040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Footlight MT Light" panose="0204060206030A020304" pitchFamily="18" charset="0"/>
              </a:rPr>
              <a:t>Problem Statement</a:t>
            </a:r>
            <a:r>
              <a:rPr lang="en-IN" b="1" dirty="0">
                <a:latin typeface="Footlight MT Light" panose="0204060206030A020304" pitchFamily="18" charset="0"/>
              </a:rPr>
              <a:t>:-</a:t>
            </a:r>
          </a:p>
          <a:p>
            <a:endParaRPr lang="en-IN" dirty="0">
              <a:latin typeface="Footlight MT Light" panose="0204060206030A020304" pitchFamily="18" charset="0"/>
            </a:endParaRPr>
          </a:p>
          <a:p>
            <a:r>
              <a:rPr lang="en-US" dirty="0">
                <a:latin typeface="Footlight MT Light" panose="0204060206030A020304" pitchFamily="18" charset="0"/>
              </a:rPr>
              <a:t>Legal documents such as court judgments, statutes, and government orders are often extremely long, unstructured, and written in dense legal terminology. Manual summarization of such documents is time-consuming and requires domain expertise.</a:t>
            </a:r>
            <a:br>
              <a:rPr lang="en-US" dirty="0">
                <a:latin typeface="Footlight MT Light" panose="0204060206030A020304" pitchFamily="18" charset="0"/>
              </a:rPr>
            </a:br>
            <a:r>
              <a:rPr lang="en-US" dirty="0">
                <a:latin typeface="Footlight MT Light" panose="0204060206030A020304" pitchFamily="18" charset="0"/>
              </a:rPr>
              <a:t>Existing transformer-based summarization models struggle due to:</a:t>
            </a:r>
          </a:p>
          <a:p>
            <a:endParaRPr lang="en-US" dirty="0">
              <a:latin typeface="Footlight MT Light" panose="0204060206030A020304" pitchFamily="18" charset="0"/>
            </a:endParaRPr>
          </a:p>
          <a:p>
            <a:r>
              <a:rPr lang="en-US" dirty="0">
                <a:latin typeface="Footlight MT Light" panose="0204060206030A020304" pitchFamily="18" charset="0"/>
              </a:rPr>
              <a:t>1.)Input length limitations (512–1024 tokens), leading to truncation of long judgments.</a:t>
            </a:r>
          </a:p>
          <a:p>
            <a:endParaRPr lang="en-US" dirty="0">
              <a:latin typeface="Footlight MT Light" panose="0204060206030A020304" pitchFamily="18" charset="0"/>
            </a:endParaRPr>
          </a:p>
          <a:p>
            <a:r>
              <a:rPr lang="en-US" dirty="0">
                <a:latin typeface="Footlight MT Light" panose="0204060206030A020304" pitchFamily="18" charset="0"/>
              </a:rPr>
              <a:t>2.)Scarcity of domain-specific summarization datasets, especially for Indian legal documents.</a:t>
            </a:r>
          </a:p>
          <a:p>
            <a:endParaRPr lang="en-US" dirty="0">
              <a:latin typeface="Footlight MT Light" panose="0204060206030A020304" pitchFamily="18" charset="0"/>
            </a:endParaRPr>
          </a:p>
          <a:p>
            <a:r>
              <a:rPr lang="en-US" dirty="0">
                <a:latin typeface="Footlight MT Light" panose="0204060206030A020304" pitchFamily="18" charset="0"/>
              </a:rPr>
              <a:t>This project aims to address these challenges by developing an automated legal document summarization system that combines an Extract-then-Assign (ETA) dataset generation strategy with a fine-tuned BART( model to generate concise, coherent, and legally faithful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61;p30">
            <a:extLst>
              <a:ext uri="{FF2B5EF4-FFF2-40B4-BE49-F238E27FC236}">
                <a16:creationId xmlns:a16="http://schemas.microsoft.com/office/drawing/2014/main" id="{48979AA2-1149-469D-EA73-618BBEC16CF5}"/>
              </a:ext>
            </a:extLst>
          </p:cNvPr>
          <p:cNvCxnSpPr/>
          <p:nvPr/>
        </p:nvCxnSpPr>
        <p:spPr>
          <a:xfrm>
            <a:off x="653777" y="863263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EEE2011-62E2-5BB9-CA0C-694622AB5B3A}"/>
              </a:ext>
            </a:extLst>
          </p:cNvPr>
          <p:cNvSpPr txBox="1"/>
          <p:nvPr/>
        </p:nvSpPr>
        <p:spPr>
          <a:xfrm>
            <a:off x="557560" y="1189463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latin typeface="Footlight MT Light" panose="0204060206030A020304" pitchFamily="18" charset="0"/>
              </a:rPr>
              <a:t>Motivation:-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8C6CB5-744C-BA0D-B724-B56CE56FE5FE}"/>
              </a:ext>
            </a:extLst>
          </p:cNvPr>
          <p:cNvSpPr txBox="1"/>
          <p:nvPr/>
        </p:nvSpPr>
        <p:spPr>
          <a:xfrm>
            <a:off x="973872" y="1602581"/>
            <a:ext cx="61331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ootlight MT Light" panose="0204060206030A020304" pitchFamily="18" charset="0"/>
              </a:rPr>
              <a:t>Legal professionals, law students, and researchers spend significant time reading lengthy judgments to extract relevant information.</a:t>
            </a:r>
            <a:br>
              <a:rPr lang="en-US" dirty="0">
                <a:latin typeface="Footlight MT Light" panose="0204060206030A020304" pitchFamily="18" charset="0"/>
              </a:rPr>
            </a:br>
            <a:r>
              <a:rPr lang="en-US" dirty="0">
                <a:latin typeface="Footlight MT Light" panose="0204060206030A020304" pitchFamily="18" charset="0"/>
              </a:rPr>
              <a:t>With thousands of judgments produced every month, manual analysis becomes inefficient.</a:t>
            </a:r>
            <a:br>
              <a:rPr lang="en-US" dirty="0">
                <a:latin typeface="Footlight MT Light" panose="0204060206030A020304" pitchFamily="18" charset="0"/>
              </a:rPr>
            </a:br>
            <a:r>
              <a:rPr lang="en-US" dirty="0">
                <a:latin typeface="Footlight MT Light" panose="0204060206030A020304" pitchFamily="18" charset="0"/>
              </a:rPr>
              <a:t>Furthermore, Indian legal judgments are lengthy (5,000–20,000+ tokens) and public datasets with high-quality summaries are limited.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The motivation for this work arises from the need for:</a:t>
            </a:r>
          </a:p>
          <a:p>
            <a:r>
              <a:rPr lang="en-US" b="1" dirty="0">
                <a:latin typeface="Footlight MT Light" panose="0204060206030A020304" pitchFamily="18" charset="0"/>
              </a:rPr>
              <a:t>   *Efficient retrieval and understanding</a:t>
            </a:r>
            <a:r>
              <a:rPr lang="en-US" dirty="0">
                <a:latin typeface="Footlight MT Light" panose="0204060206030A020304" pitchFamily="18" charset="0"/>
              </a:rPr>
              <a:t> of legal documents.</a:t>
            </a:r>
          </a:p>
          <a:p>
            <a:r>
              <a:rPr lang="en-US" b="1" dirty="0">
                <a:latin typeface="Footlight MT Light" panose="0204060206030A020304" pitchFamily="18" charset="0"/>
              </a:rPr>
              <a:t>   *Automated summarization tools</a:t>
            </a:r>
            <a:r>
              <a:rPr lang="en-US" dirty="0">
                <a:latin typeface="Footlight MT Light" panose="0204060206030A020304" pitchFamily="18" charset="0"/>
              </a:rPr>
              <a:t> that can handle long documents.</a:t>
            </a:r>
          </a:p>
          <a:p>
            <a:r>
              <a:rPr lang="en-US" b="1" dirty="0">
                <a:latin typeface="Footlight MT Light" panose="0204060206030A020304" pitchFamily="18" charset="0"/>
              </a:rPr>
              <a:t>   *Domain-adapted models</a:t>
            </a:r>
            <a:r>
              <a:rPr lang="en-US" dirty="0">
                <a:latin typeface="Footlight MT Light" panose="0204060206030A020304" pitchFamily="18" charset="0"/>
              </a:rPr>
              <a:t> that overcome data scarcity and input-length       barriers.</a:t>
            </a:r>
          </a:p>
          <a:p>
            <a:endParaRPr lang="en-IN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08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61;p30">
            <a:extLst>
              <a:ext uri="{FF2B5EF4-FFF2-40B4-BE49-F238E27FC236}">
                <a16:creationId xmlns:a16="http://schemas.microsoft.com/office/drawing/2014/main" id="{D8C05EFB-AB0B-3E05-FE56-0A960B33AAFC}"/>
              </a:ext>
            </a:extLst>
          </p:cNvPr>
          <p:cNvCxnSpPr/>
          <p:nvPr/>
        </p:nvCxnSpPr>
        <p:spPr>
          <a:xfrm>
            <a:off x="653777" y="863263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D740029-57DD-B00B-5D47-2336F308B235}"/>
              </a:ext>
            </a:extLst>
          </p:cNvPr>
          <p:cNvSpPr txBox="1"/>
          <p:nvPr/>
        </p:nvSpPr>
        <p:spPr>
          <a:xfrm>
            <a:off x="795454" y="1609861"/>
            <a:ext cx="57986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Footlight MT Light" panose="0204060206030A020304" pitchFamily="18" charset="0"/>
              </a:rPr>
              <a:t>The key objectives of the project are:</a:t>
            </a:r>
          </a:p>
          <a:p>
            <a:pPr>
              <a:buNone/>
            </a:pPr>
            <a:endParaRPr lang="en-US" dirty="0">
              <a:latin typeface="Footlight MT Light" panose="0204060206030A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latin typeface="Footlight MT Light" panose="0204060206030A020304" pitchFamily="18" charset="0"/>
              </a:rPr>
              <a:t>To build a high-quality training dataset for legal summarization using the ETA strategy.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Footlight MT Light" panose="0204060206030A020304" pitchFamily="18" charset="0"/>
              </a:rPr>
              <a:t>To preprocess and chunk long Indian legal documents into model-friendly units.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Footlight MT Light" panose="0204060206030A020304" pitchFamily="18" charset="0"/>
              </a:rPr>
              <a:t>To fine-tune a BART model on the generated dataset for abstractive summarization.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Footlight MT Light" panose="0204060206030A020304" pitchFamily="18" charset="0"/>
              </a:rPr>
              <a:t>To evaluate the model using ROUGE and BERT Score metrics.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34D569-7F8D-4C4C-ED03-2CCBC6520ECE}"/>
              </a:ext>
            </a:extLst>
          </p:cNvPr>
          <p:cNvSpPr txBox="1"/>
          <p:nvPr/>
        </p:nvSpPr>
        <p:spPr>
          <a:xfrm>
            <a:off x="795454" y="1123000"/>
            <a:ext cx="1063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latin typeface="Footlight MT Light" panose="0204060206030A020304" pitchFamily="18" charset="0"/>
              </a:rPr>
              <a:t>Objectives</a:t>
            </a:r>
            <a:r>
              <a:rPr lang="en-IN" b="1" dirty="0">
                <a:latin typeface="Footlight MT Light" panose="0204060206030A020304" pitchFamily="18" charset="0"/>
              </a:rPr>
              <a:t>:-</a:t>
            </a:r>
          </a:p>
        </p:txBody>
      </p:sp>
    </p:spTree>
    <p:extLst>
      <p:ext uri="{BB962C8B-B14F-4D97-AF65-F5344CB8AC3E}">
        <p14:creationId xmlns:p14="http://schemas.microsoft.com/office/powerpoint/2010/main" val="375564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B83FD03-CE37-BCA1-0105-2E97266B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22" y="409665"/>
            <a:ext cx="7717500" cy="698400"/>
          </a:xfrm>
        </p:spPr>
        <p:txBody>
          <a:bodyPr/>
          <a:lstStyle/>
          <a:p>
            <a:r>
              <a:rPr lang="en-IN" sz="3600" dirty="0"/>
              <a:t>Literature Review</a:t>
            </a:r>
          </a:p>
        </p:txBody>
      </p:sp>
      <p:cxnSp>
        <p:nvCxnSpPr>
          <p:cNvPr id="5" name="Google Shape;161;p30">
            <a:extLst>
              <a:ext uri="{FF2B5EF4-FFF2-40B4-BE49-F238E27FC236}">
                <a16:creationId xmlns:a16="http://schemas.microsoft.com/office/drawing/2014/main" id="{AEDBB5DD-103E-7F5D-2DE9-A9DF48A332CE}"/>
              </a:ext>
            </a:extLst>
          </p:cNvPr>
          <p:cNvCxnSpPr/>
          <p:nvPr/>
        </p:nvCxnSpPr>
        <p:spPr>
          <a:xfrm>
            <a:off x="617022" y="1091304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7680F7-9838-D017-FBA8-D6AAC58FA6EF}"/>
              </a:ext>
            </a:extLst>
          </p:cNvPr>
          <p:cNvSpPr txBox="1"/>
          <p:nvPr/>
        </p:nvSpPr>
        <p:spPr>
          <a:xfrm>
            <a:off x="735645" y="1285660"/>
            <a:ext cx="7717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Footlight MT Light" panose="0204060206030A020304" pitchFamily="18" charset="0"/>
              </a:rPr>
              <a:t>Key prior works: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Footlight MT Light" panose="0204060206030A020304" pitchFamily="18" charset="0"/>
              </a:rPr>
              <a:t>Transformer-based seq2seq models and adaptations for summarization; long-document transformers; dataset augmentation strategies for low-resource summarization. </a:t>
            </a:r>
          </a:p>
          <a:p>
            <a:r>
              <a:rPr lang="en-IN" dirty="0">
                <a:solidFill>
                  <a:schemeClr val="tx1"/>
                </a:solidFill>
                <a:latin typeface="Footlight MT Light" panose="0204060206030A020304" pitchFamily="18" charset="0"/>
              </a:rPr>
              <a:t>•     T5 (Text-to-Text Transfer Transformer)—a unified encoder-decoder pretraining approach for                  many NLP tasks including summarization [2]. </a:t>
            </a:r>
          </a:p>
          <a:p>
            <a:r>
              <a:rPr lang="en-IN" dirty="0">
                <a:solidFill>
                  <a:schemeClr val="tx1"/>
                </a:solidFill>
                <a:latin typeface="Footlight MT Light" panose="0204060206030A020304" pitchFamily="18" charset="0"/>
              </a:rPr>
              <a:t>•     BART and denoising autoencoders for abstractive summarization [3]. </a:t>
            </a:r>
          </a:p>
          <a:p>
            <a:r>
              <a:rPr lang="en-IN" dirty="0">
                <a:solidFill>
                  <a:schemeClr val="tx1"/>
                </a:solidFill>
                <a:latin typeface="Footlight MT Light" panose="0204060206030A020304" pitchFamily="18" charset="0"/>
              </a:rPr>
              <a:t>•     Long-document transformers (</a:t>
            </a:r>
            <a:r>
              <a:rPr lang="en-IN" dirty="0" err="1">
                <a:solidFill>
                  <a:schemeClr val="tx1"/>
                </a:solidFill>
                <a:latin typeface="Footlight MT Light" panose="0204060206030A020304" pitchFamily="18" charset="0"/>
              </a:rPr>
              <a:t>BigBird</a:t>
            </a:r>
            <a:r>
              <a:rPr lang="en-IN" dirty="0">
                <a:solidFill>
                  <a:schemeClr val="tx1"/>
                </a:solidFill>
                <a:latin typeface="Footlight MT Light" panose="0204060206030A020304" pitchFamily="18" charset="0"/>
              </a:rPr>
              <a:t>, LED) using sparse attention to handle long inputs [4, 5]. </a:t>
            </a:r>
          </a:p>
          <a:p>
            <a:r>
              <a:rPr lang="en-IN" dirty="0">
                <a:solidFill>
                  <a:schemeClr val="tx1"/>
                </a:solidFill>
                <a:latin typeface="Footlight MT Light" panose="0204060206030A020304" pitchFamily="18" charset="0"/>
              </a:rPr>
              <a:t>•     Summarization of Lengthy Legal Documents — the extract-then-assign paradigm for long legal texts to create multiple manageable document-summary pairs and augment training data [1].</a:t>
            </a:r>
          </a:p>
        </p:txBody>
      </p:sp>
    </p:spTree>
    <p:extLst>
      <p:ext uri="{BB962C8B-B14F-4D97-AF65-F5344CB8AC3E}">
        <p14:creationId xmlns:p14="http://schemas.microsoft.com/office/powerpoint/2010/main" val="3983885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1DE718-2A16-8F1B-F6DC-DA5EAB9E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22" y="409665"/>
            <a:ext cx="7717500" cy="698400"/>
          </a:xfrm>
        </p:spPr>
        <p:txBody>
          <a:bodyPr/>
          <a:lstStyle/>
          <a:p>
            <a:r>
              <a:rPr lang="en-IN" sz="3600" dirty="0"/>
              <a:t>Literature Review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C3F1F-3420-082D-A918-330E0FEFC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49575" y="1862259"/>
            <a:ext cx="5626889" cy="2744975"/>
          </a:xfrm>
        </p:spPr>
        <p:txBody>
          <a:bodyPr/>
          <a:lstStyle/>
          <a:p>
            <a:r>
              <a:rPr lang="en-US" sz="1400" dirty="0"/>
              <a:t>From existing literature, three major gaps remain:</a:t>
            </a:r>
          </a:p>
          <a:p>
            <a:r>
              <a:rPr lang="en-US" sz="1400" b="1" dirty="0"/>
              <a:t>Lack of high-quality annotated datasets</a:t>
            </a:r>
            <a:r>
              <a:rPr lang="en-US" sz="1400" dirty="0"/>
              <a:t> for Indian legal summarization.</a:t>
            </a:r>
          </a:p>
          <a:p>
            <a:r>
              <a:rPr lang="en-US" sz="1400" b="1" dirty="0"/>
              <a:t>Difficulty in processing long documents</a:t>
            </a:r>
            <a:r>
              <a:rPr lang="en-US" sz="1400" dirty="0"/>
              <a:t> due to token limits.</a:t>
            </a:r>
          </a:p>
          <a:p>
            <a:r>
              <a:rPr lang="en-US" sz="1400" b="1" dirty="0"/>
              <a:t>Limited adoption of hybrid extractive–abstractive strategies</a:t>
            </a:r>
            <a:r>
              <a:rPr lang="en-US" sz="1400" dirty="0"/>
              <a:t> for dataset generation.</a:t>
            </a:r>
          </a:p>
          <a:p>
            <a:r>
              <a:rPr lang="en-US" sz="1400" dirty="0"/>
              <a:t>Although BART performs well on abstractive summarization, </a:t>
            </a:r>
            <a:r>
              <a:rPr lang="en-US" sz="1400" b="1" dirty="0"/>
              <a:t>fine-tuning it on long legal documents is expensive</a:t>
            </a:r>
            <a:r>
              <a:rPr lang="en-US" sz="1400" dirty="0"/>
              <a:t>, motivating the use of </a:t>
            </a:r>
            <a:r>
              <a:rPr lang="en-US" sz="1400" b="1" dirty="0"/>
              <a:t>PEFT–</a:t>
            </a:r>
            <a:r>
              <a:rPr lang="en-US" sz="1400" b="1" dirty="0" err="1"/>
              <a:t>LoRA</a:t>
            </a:r>
            <a:r>
              <a:rPr lang="en-US" sz="1400" dirty="0"/>
              <a:t> to reduce training cost while maintaining performance..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E36889-6E3B-F854-CCCE-A902E5704C67}"/>
              </a:ext>
            </a:extLst>
          </p:cNvPr>
          <p:cNvSpPr txBox="1"/>
          <p:nvPr/>
        </p:nvSpPr>
        <p:spPr>
          <a:xfrm>
            <a:off x="617022" y="1353184"/>
            <a:ext cx="1832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Footlight MT Light" panose="0204060206030A020304" pitchFamily="18" charset="0"/>
              </a:rPr>
              <a:t>Gaps Identified:</a:t>
            </a:r>
          </a:p>
        </p:txBody>
      </p:sp>
      <p:cxnSp>
        <p:nvCxnSpPr>
          <p:cNvPr id="2" name="Google Shape;161;p30">
            <a:extLst>
              <a:ext uri="{FF2B5EF4-FFF2-40B4-BE49-F238E27FC236}">
                <a16:creationId xmlns:a16="http://schemas.microsoft.com/office/drawing/2014/main" id="{3B70F485-F5A7-6583-C9CB-16B729EADDC5}"/>
              </a:ext>
            </a:extLst>
          </p:cNvPr>
          <p:cNvCxnSpPr/>
          <p:nvPr/>
        </p:nvCxnSpPr>
        <p:spPr>
          <a:xfrm>
            <a:off x="617022" y="1091304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F60F53C-8B5F-14D2-07A7-18C2D21A3215}"/>
              </a:ext>
            </a:extLst>
          </p:cNvPr>
          <p:cNvSpPr txBox="1"/>
          <p:nvPr/>
        </p:nvSpPr>
        <p:spPr>
          <a:xfrm>
            <a:off x="691374" y="475786"/>
            <a:ext cx="3523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Footlight MT Light" panose="0204060206030A020304" pitchFamily="18" charset="0"/>
              </a:rPr>
              <a:t>Methodology: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01553F-F3AC-ECE7-71F4-BC3E7EF25AEB}"/>
              </a:ext>
            </a:extLst>
          </p:cNvPr>
          <p:cNvSpPr txBox="1"/>
          <p:nvPr/>
        </p:nvSpPr>
        <p:spPr>
          <a:xfrm>
            <a:off x="691374" y="1333115"/>
            <a:ext cx="587297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Footlight MT Light" panose="0204060206030A020304" pitchFamily="18" charset="0"/>
              </a:rPr>
              <a:t>Dataset &amp; Preprocessing :-</a:t>
            </a:r>
          </a:p>
          <a:p>
            <a:endParaRPr lang="en-US" b="1" u="sng" dirty="0">
              <a:latin typeface="Footlight MT Light" panose="0204060206030A020304" pitchFamily="18" charset="0"/>
            </a:endParaRPr>
          </a:p>
          <a:p>
            <a:r>
              <a:rPr lang="en-US" dirty="0">
                <a:latin typeface="Footlight MT Light" panose="0204060206030A020304" pitchFamily="18" charset="0"/>
              </a:rPr>
              <a:t>We combine two sources: 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• </a:t>
            </a:r>
            <a:r>
              <a:rPr lang="en-US" dirty="0" err="1">
                <a:latin typeface="Footlight MT Light" panose="0204060206030A020304" pitchFamily="18" charset="0"/>
              </a:rPr>
              <a:t>Rishiai</a:t>
            </a:r>
            <a:r>
              <a:rPr lang="en-US" dirty="0">
                <a:latin typeface="Footlight MT Light" panose="0204060206030A020304" pitchFamily="18" charset="0"/>
              </a:rPr>
              <a:t> dataset—structured Indian legal judgment summaries containing pairs of judgments and short summaries in English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• FIRE Dataset from an external source.</a:t>
            </a:r>
          </a:p>
          <a:p>
            <a:endParaRPr lang="en-US" dirty="0">
              <a:latin typeface="Footlight MT Light" panose="0204060206030A020304" pitchFamily="18" charset="0"/>
            </a:endParaRPr>
          </a:p>
          <a:p>
            <a:endParaRPr lang="en-US" dirty="0">
              <a:latin typeface="Footlight MT Light" panose="0204060206030A020304" pitchFamily="18" charset="0"/>
            </a:endParaRPr>
          </a:p>
          <a:p>
            <a:r>
              <a:rPr lang="en-IN" dirty="0">
                <a:latin typeface="Footlight MT Light" panose="0204060206030A020304" pitchFamily="18" charset="0"/>
              </a:rPr>
              <a:t>Preprocessing included: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Footlight MT Light" panose="0204060206030A020304" pitchFamily="18" charset="0"/>
              </a:rPr>
              <a:t>Handling Broken words using regex.</a:t>
            </a:r>
            <a:endParaRPr lang="en-US" dirty="0">
              <a:latin typeface="Footlight MT Light" panose="0204060206030A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ootlight MT Light" panose="0204060206030A020304" pitchFamily="18" charset="0"/>
              </a:rPr>
              <a:t>Removing Noise.</a:t>
            </a:r>
            <a:endParaRPr lang="en-IN" dirty="0">
              <a:latin typeface="Footlight MT Light" panose="0204060206030A020304" pitchFamily="18" charset="0"/>
            </a:endParaRPr>
          </a:p>
        </p:txBody>
      </p:sp>
      <p:cxnSp>
        <p:nvCxnSpPr>
          <p:cNvPr id="2" name="Google Shape;161;p30">
            <a:extLst>
              <a:ext uri="{FF2B5EF4-FFF2-40B4-BE49-F238E27FC236}">
                <a16:creationId xmlns:a16="http://schemas.microsoft.com/office/drawing/2014/main" id="{4EDF9C4F-D7D4-157A-25B1-C23675762062}"/>
              </a:ext>
            </a:extLst>
          </p:cNvPr>
          <p:cNvCxnSpPr/>
          <p:nvPr/>
        </p:nvCxnSpPr>
        <p:spPr>
          <a:xfrm>
            <a:off x="617022" y="1091304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21;p36">
            <a:extLst>
              <a:ext uri="{FF2B5EF4-FFF2-40B4-BE49-F238E27FC236}">
                <a16:creationId xmlns:a16="http://schemas.microsoft.com/office/drawing/2014/main" id="{D3E19E8D-514C-A1C5-462B-B35B9F581EDA}"/>
              </a:ext>
            </a:extLst>
          </p:cNvPr>
          <p:cNvCxnSpPr/>
          <p:nvPr/>
        </p:nvCxnSpPr>
        <p:spPr>
          <a:xfrm>
            <a:off x="631475" y="870696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88618D-7A34-7588-1E74-E84095D62A44}"/>
              </a:ext>
            </a:extLst>
          </p:cNvPr>
          <p:cNvSpPr txBox="1"/>
          <p:nvPr/>
        </p:nvSpPr>
        <p:spPr>
          <a:xfrm>
            <a:off x="681901" y="285921"/>
            <a:ext cx="3478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Footlight MT Light" panose="0204060206030A020304" pitchFamily="18" charset="0"/>
              </a:rPr>
              <a:t>Proposed Method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46AEF7-158A-3AEF-BA78-C690618A83FA}"/>
              </a:ext>
            </a:extLst>
          </p:cNvPr>
          <p:cNvSpPr txBox="1"/>
          <p:nvPr/>
        </p:nvSpPr>
        <p:spPr>
          <a:xfrm>
            <a:off x="681901" y="1245080"/>
            <a:ext cx="43118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Footlight MT Light" panose="0204060206030A020304" pitchFamily="18" charset="0"/>
              </a:rPr>
              <a:t>Extractive Summaries Generation</a:t>
            </a:r>
          </a:p>
          <a:p>
            <a:r>
              <a:rPr lang="en-IN" dirty="0">
                <a:latin typeface="Footlight MT Light" panose="0204060206030A020304" pitchFamily="18" charset="0"/>
              </a:rPr>
              <a:t>For each document, we generate </a:t>
            </a:r>
            <a:r>
              <a:rPr lang="en-IN" b="1" dirty="0">
                <a:latin typeface="Footlight MT Light" panose="0204060206030A020304" pitchFamily="18" charset="0"/>
              </a:rPr>
              <a:t>k = 7 extractive summaries</a:t>
            </a:r>
            <a:r>
              <a:rPr lang="en-IN" dirty="0">
                <a:latin typeface="Footlight MT Light" panose="0204060206030A020304" pitchFamily="18" charset="0"/>
              </a:rPr>
              <a:t> using:</a:t>
            </a:r>
          </a:p>
          <a:p>
            <a:r>
              <a:rPr lang="en-IN" dirty="0" err="1">
                <a:latin typeface="Footlight MT Light" panose="0204060206030A020304" pitchFamily="18" charset="0"/>
              </a:rPr>
              <a:t>TextRank</a:t>
            </a:r>
            <a:endParaRPr lang="en-IN" dirty="0">
              <a:latin typeface="Footlight MT Light" panose="0204060206030A020304" pitchFamily="18" charset="0"/>
            </a:endParaRPr>
          </a:p>
          <a:p>
            <a:r>
              <a:rPr lang="en-IN" dirty="0" err="1">
                <a:latin typeface="Footlight MT Light" panose="0204060206030A020304" pitchFamily="18" charset="0"/>
              </a:rPr>
              <a:t>LexRank</a:t>
            </a:r>
            <a:endParaRPr lang="en-IN" dirty="0">
              <a:latin typeface="Footlight MT Light" panose="0204060206030A020304" pitchFamily="18" charset="0"/>
            </a:endParaRPr>
          </a:p>
          <a:p>
            <a:r>
              <a:rPr lang="en-IN" dirty="0">
                <a:latin typeface="Footlight MT Light" panose="0204060206030A020304" pitchFamily="18" charset="0"/>
              </a:rPr>
              <a:t>LSA</a:t>
            </a:r>
          </a:p>
          <a:p>
            <a:r>
              <a:rPr lang="en-IN" dirty="0">
                <a:latin typeface="Footlight MT Light" panose="0204060206030A020304" pitchFamily="18" charset="0"/>
              </a:rPr>
              <a:t>KL-Sum</a:t>
            </a:r>
          </a:p>
          <a:p>
            <a:r>
              <a:rPr lang="en-IN" dirty="0">
                <a:latin typeface="Footlight MT Light" panose="0204060206030A020304" pitchFamily="18" charset="0"/>
              </a:rPr>
              <a:t>LUHN</a:t>
            </a:r>
          </a:p>
          <a:p>
            <a:r>
              <a:rPr lang="en-IN" dirty="0" err="1">
                <a:latin typeface="Footlight MT Light" panose="0204060206030A020304" pitchFamily="18" charset="0"/>
              </a:rPr>
              <a:t>SumBasic</a:t>
            </a:r>
            <a:endParaRPr lang="en-IN" dirty="0">
              <a:latin typeface="Footlight MT Light" panose="0204060206030A020304" pitchFamily="18" charset="0"/>
            </a:endParaRPr>
          </a:p>
          <a:p>
            <a:r>
              <a:rPr lang="en-IN" dirty="0">
                <a:latin typeface="Footlight MT Light" panose="0204060206030A020304" pitchFamily="18" charset="0"/>
              </a:rPr>
              <a:t>Legal-SBERT based scoring</a:t>
            </a:r>
          </a:p>
          <a:p>
            <a:r>
              <a:rPr lang="en-IN" dirty="0">
                <a:latin typeface="Footlight MT Light" panose="0204060206030A020304" pitchFamily="18" charset="0"/>
              </a:rPr>
              <a:t>Each extractive summary is constrained to </a:t>
            </a:r>
            <a:r>
              <a:rPr lang="en-IN" b="1" dirty="0">
                <a:latin typeface="Footlight MT Light" panose="0204060206030A020304" pitchFamily="18" charset="0"/>
              </a:rPr>
              <a:t>≤ 512 tokens</a:t>
            </a:r>
            <a:r>
              <a:rPr lang="en-IN" dirty="0">
                <a:latin typeface="Footlight MT Light" panose="0204060206030A020304" pitchFamily="18" charset="0"/>
              </a:rPr>
              <a:t>.</a:t>
            </a:r>
          </a:p>
        </p:txBody>
      </p:sp>
      <p:cxnSp>
        <p:nvCxnSpPr>
          <p:cNvPr id="24" name="Google Shape;221;p36">
            <a:extLst>
              <a:ext uri="{FF2B5EF4-FFF2-40B4-BE49-F238E27FC236}">
                <a16:creationId xmlns:a16="http://schemas.microsoft.com/office/drawing/2014/main" id="{12A32B46-CF9F-0F1D-F0ED-B0E739BCC05F}"/>
              </a:ext>
            </a:extLst>
          </p:cNvPr>
          <p:cNvCxnSpPr>
            <a:cxnSpLocks/>
          </p:cNvCxnSpPr>
          <p:nvPr/>
        </p:nvCxnSpPr>
        <p:spPr>
          <a:xfrm flipV="1">
            <a:off x="4772609" y="1226634"/>
            <a:ext cx="0" cy="29736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DDB1CA-F0A2-EA84-A1DD-0E60DFF55B41}"/>
              </a:ext>
            </a:extLst>
          </p:cNvPr>
          <p:cNvSpPr txBox="1"/>
          <p:nvPr/>
        </p:nvSpPr>
        <p:spPr>
          <a:xfrm>
            <a:off x="5040780" y="1229485"/>
            <a:ext cx="330819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Footlight MT Light" panose="0204060206030A020304" pitchFamily="18" charset="0"/>
              </a:rPr>
              <a:t>Extract-then-Assign (ETA) Data Generation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Given each extractive summary chunk and ground-truth summary sentences, we: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1.Compute similarity using ROUGE Score.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2.Assign each summary sentence to the most similar extractive chunk.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3.Enforce length constraints to avoid overflows.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4.Generate </a:t>
            </a:r>
            <a:r>
              <a:rPr lang="en-US" b="1" dirty="0">
                <a:latin typeface="Footlight MT Light" panose="0204060206030A020304" pitchFamily="18" charset="0"/>
              </a:rPr>
              <a:t>up to 7 document–summary pairs</a:t>
            </a:r>
            <a:r>
              <a:rPr lang="en-US" dirty="0">
                <a:latin typeface="Footlight MT Light" panose="0204060206030A020304" pitchFamily="18" charset="0"/>
              </a:rPr>
              <a:t> per original sample.</a:t>
            </a:r>
          </a:p>
          <a:p>
            <a:r>
              <a:rPr lang="en-US" dirty="0">
                <a:latin typeface="Footlight MT Light" panose="0204060206030A020304" pitchFamily="18" charset="0"/>
              </a:rPr>
              <a:t>This multiplies the available training samples by 7×.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E2C9704-997A-57EF-04F5-DFAC00B95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34" y="269615"/>
            <a:ext cx="5088600" cy="454800"/>
          </a:xfrm>
        </p:spPr>
        <p:txBody>
          <a:bodyPr/>
          <a:lstStyle/>
          <a:p>
            <a:r>
              <a:rPr lang="en-IN" sz="3600" b="1" dirty="0"/>
              <a:t>Proposed Method</a:t>
            </a:r>
          </a:p>
        </p:txBody>
      </p:sp>
      <p:cxnSp>
        <p:nvCxnSpPr>
          <p:cNvPr id="6" name="Google Shape;221;p36">
            <a:extLst>
              <a:ext uri="{FF2B5EF4-FFF2-40B4-BE49-F238E27FC236}">
                <a16:creationId xmlns:a16="http://schemas.microsoft.com/office/drawing/2014/main" id="{F430209A-289A-8093-B19F-239D31F4B19B}"/>
              </a:ext>
            </a:extLst>
          </p:cNvPr>
          <p:cNvCxnSpPr/>
          <p:nvPr/>
        </p:nvCxnSpPr>
        <p:spPr>
          <a:xfrm>
            <a:off x="631475" y="967340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534317-2686-0386-2D54-F4F53E66A55B}"/>
              </a:ext>
            </a:extLst>
          </p:cNvPr>
          <p:cNvSpPr txBox="1"/>
          <p:nvPr/>
        </p:nvSpPr>
        <p:spPr>
          <a:xfrm>
            <a:off x="631475" y="1343188"/>
            <a:ext cx="77175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Footlight MT Light" panose="0204060206030A020304" pitchFamily="18" charset="0"/>
              </a:rPr>
              <a:t>Finetuning using BART</a:t>
            </a:r>
            <a:r>
              <a:rPr lang="en-IN" dirty="0">
                <a:latin typeface="Footlight MT Light" panose="0204060206030A020304" pitchFamily="18" charset="0"/>
              </a:rPr>
              <a:t>:-</a:t>
            </a:r>
          </a:p>
          <a:p>
            <a:endParaRPr lang="en-IN" dirty="0">
              <a:latin typeface="Footlight MT Light" panose="0204060206030A020304" pitchFamily="18" charset="0"/>
            </a:endParaRPr>
          </a:p>
          <a:p>
            <a:r>
              <a:rPr lang="en-IN" dirty="0">
                <a:latin typeface="Footlight MT Light" panose="0204060206030A020304" pitchFamily="18" charset="0"/>
              </a:rPr>
              <a:t>We fine-tune </a:t>
            </a:r>
            <a:r>
              <a:rPr lang="en-IN" b="1" dirty="0">
                <a:latin typeface="Footlight MT Light" panose="0204060206030A020304" pitchFamily="18" charset="0"/>
              </a:rPr>
              <a:t>BART-Large</a:t>
            </a:r>
            <a:r>
              <a:rPr lang="en-IN" dirty="0">
                <a:latin typeface="Footlight MT Light" panose="0204060206030A020304" pitchFamily="18" charset="0"/>
              </a:rPr>
              <a:t> using </a:t>
            </a:r>
            <a:r>
              <a:rPr lang="en-IN" b="1" dirty="0">
                <a:latin typeface="Footlight MT Light" panose="0204060206030A020304" pitchFamily="18" charset="0"/>
              </a:rPr>
              <a:t>PEFT </a:t>
            </a:r>
            <a:r>
              <a:rPr lang="en-IN" b="1" dirty="0" err="1">
                <a:latin typeface="Footlight MT Light" panose="0204060206030A020304" pitchFamily="18" charset="0"/>
              </a:rPr>
              <a:t>LoRA</a:t>
            </a:r>
            <a:r>
              <a:rPr lang="en-IN" b="1" dirty="0">
                <a:latin typeface="Footlight MT Light" panose="0204060206030A020304" pitchFamily="18" charset="0"/>
              </a:rPr>
              <a:t> (Low Rank Adaptation)</a:t>
            </a:r>
            <a:r>
              <a:rPr lang="en-IN" dirty="0">
                <a:latin typeface="Footlight MT Light" panose="0204060206030A020304" pitchFamily="18" charset="0"/>
              </a:rPr>
              <a:t> for efficient parameter-reduced training. </a:t>
            </a:r>
            <a:r>
              <a:rPr lang="en-IN" dirty="0" err="1">
                <a:latin typeface="Footlight MT Light" panose="0204060206030A020304" pitchFamily="18" charset="0"/>
              </a:rPr>
              <a:t>LoRA</a:t>
            </a:r>
            <a:r>
              <a:rPr lang="en-IN" dirty="0">
                <a:latin typeface="Footlight MT Light" panose="0204060206030A020304" pitchFamily="18" charset="0"/>
              </a:rPr>
              <a:t> updates only small low-rank matrices reducing number of training parameters, enabling fast, low-cost fine-tuning while still retaining strong abstractive summarization performance on legal document chunks.</a:t>
            </a:r>
          </a:p>
          <a:p>
            <a:endParaRPr lang="en-IN" dirty="0">
              <a:latin typeface="Footlight MT Light" panose="0204060206030A020304" pitchFamily="18" charset="0"/>
            </a:endParaRPr>
          </a:p>
          <a:p>
            <a:r>
              <a:rPr lang="en-US" dirty="0">
                <a:latin typeface="Footlight MT Light" panose="0204060206030A020304" pitchFamily="18" charset="0"/>
              </a:rPr>
              <a:t>As machine learning models become larger and more complex, fine-tuning them often requires substantial computational power and memory. </a:t>
            </a:r>
            <a:r>
              <a:rPr lang="en-US" dirty="0" err="1">
                <a:latin typeface="Footlight MT Light" panose="0204060206030A020304" pitchFamily="18" charset="0"/>
              </a:rPr>
              <a:t>LoRA</a:t>
            </a:r>
            <a:r>
              <a:rPr lang="en-US" dirty="0">
                <a:latin typeface="Footlight MT Light" panose="0204060206030A020304" pitchFamily="18" charset="0"/>
              </a:rPr>
              <a:t> addresses this issue by reducing the number of trainable parameters which makes the fine-tuning process faster and less demanding.</a:t>
            </a:r>
            <a:endParaRPr lang="en-IN" dirty="0">
              <a:latin typeface="Footlight MT Light" panose="0204060206030A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221;p36">
            <a:extLst>
              <a:ext uri="{FF2B5EF4-FFF2-40B4-BE49-F238E27FC236}">
                <a16:creationId xmlns:a16="http://schemas.microsoft.com/office/drawing/2014/main" id="{47B570FF-74C5-AE24-B36B-E20959112AF1}"/>
              </a:ext>
            </a:extLst>
          </p:cNvPr>
          <p:cNvCxnSpPr/>
          <p:nvPr/>
        </p:nvCxnSpPr>
        <p:spPr>
          <a:xfrm>
            <a:off x="601738" y="900433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8AA4E2F-EF1E-A9CB-DC0D-7D8C158A2A10}"/>
              </a:ext>
            </a:extLst>
          </p:cNvPr>
          <p:cNvSpPr txBox="1"/>
          <p:nvPr/>
        </p:nvSpPr>
        <p:spPr>
          <a:xfrm>
            <a:off x="824762" y="193288"/>
            <a:ext cx="3007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Footlight MT Light" panose="0204060206030A020304" pitchFamily="18" charset="0"/>
              </a:rPr>
              <a:t>Block Diagram</a:t>
            </a:r>
          </a:p>
        </p:txBody>
      </p:sp>
      <p:pic>
        <p:nvPicPr>
          <p:cNvPr id="19" name="Picture 18" descr="A diagram of a diagram of a data flow&#10;&#10;AI-generated content may be incorrect.">
            <a:extLst>
              <a:ext uri="{FF2B5EF4-FFF2-40B4-BE49-F238E27FC236}">
                <a16:creationId xmlns:a16="http://schemas.microsoft.com/office/drawing/2014/main" id="{0AEC709F-C365-FEFC-A9C8-E1867EF41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46" y="945066"/>
            <a:ext cx="7463883" cy="41984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>
            <a:spLocks noGrp="1"/>
          </p:cNvSpPr>
          <p:nvPr>
            <p:ph type="title"/>
          </p:nvPr>
        </p:nvSpPr>
        <p:spPr>
          <a:xfrm>
            <a:off x="655928" y="13545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Results and Discussions</a:t>
            </a:r>
            <a:endParaRPr sz="3600" dirty="0"/>
          </a:p>
        </p:txBody>
      </p:sp>
      <p:cxnSp>
        <p:nvCxnSpPr>
          <p:cNvPr id="251" name="Google Shape;251;p38"/>
          <p:cNvCxnSpPr/>
          <p:nvPr/>
        </p:nvCxnSpPr>
        <p:spPr>
          <a:xfrm>
            <a:off x="720000" y="937661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2" name="Google Shape;252;p38"/>
          <p:cNvSpPr txBox="1"/>
          <p:nvPr/>
        </p:nvSpPr>
        <p:spPr>
          <a:xfrm>
            <a:off x="662678" y="3795867"/>
            <a:ext cx="5670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Footlight MT Light" panose="0204060206030A020304" pitchFamily="18" charset="0"/>
              <a:ea typeface="Arimo"/>
              <a:cs typeface="Arimo"/>
              <a:sym typeface="Arim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1395EB-3F7B-71D9-CF9C-A94913DB295A}"/>
              </a:ext>
            </a:extLst>
          </p:cNvPr>
          <p:cNvSpPr txBox="1"/>
          <p:nvPr/>
        </p:nvSpPr>
        <p:spPr>
          <a:xfrm>
            <a:off x="655928" y="1833252"/>
            <a:ext cx="23150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Footlight MT Light" panose="0204060206030A020304" pitchFamily="18" charset="0"/>
              </a:rPr>
              <a:t>Evaluation Metrics:-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EE498-F527-F36B-8D87-4A7B388A5FD0}"/>
              </a:ext>
            </a:extLst>
          </p:cNvPr>
          <p:cNvSpPr txBox="1"/>
          <p:nvPr/>
        </p:nvSpPr>
        <p:spPr>
          <a:xfrm>
            <a:off x="655928" y="1091539"/>
            <a:ext cx="75893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ootlight MT Light" panose="0204060206030A020304" pitchFamily="18" charset="0"/>
              </a:rPr>
              <a:t>After fine-tuning </a:t>
            </a:r>
            <a:r>
              <a:rPr lang="en-US" b="1" dirty="0">
                <a:latin typeface="Footlight MT Light" panose="0204060206030A020304" pitchFamily="18" charset="0"/>
              </a:rPr>
              <a:t>BART-Large using PEFT </a:t>
            </a:r>
            <a:r>
              <a:rPr lang="en-US" b="1" dirty="0" err="1">
                <a:latin typeface="Footlight MT Light" panose="0204060206030A020304" pitchFamily="18" charset="0"/>
              </a:rPr>
              <a:t>LoRA</a:t>
            </a:r>
            <a:r>
              <a:rPr lang="en-US" dirty="0">
                <a:latin typeface="Footlight MT Light" panose="0204060206030A020304" pitchFamily="18" charset="0"/>
              </a:rPr>
              <a:t> on the ETA-generated dataset, we evaluate the summarization quality on the held-out test set using ROUGE and </a:t>
            </a:r>
            <a:r>
              <a:rPr lang="en-US" dirty="0" err="1">
                <a:latin typeface="Footlight MT Light" panose="0204060206030A020304" pitchFamily="18" charset="0"/>
              </a:rPr>
              <a:t>BERTScore</a:t>
            </a:r>
            <a:r>
              <a:rPr lang="en-US" dirty="0">
                <a:latin typeface="Footlight MT Light" panose="0204060206030A020304" pitchFamily="18" charset="0"/>
              </a:rPr>
              <a:t>. The results are as follows:</a:t>
            </a:r>
            <a:endParaRPr lang="en-IN" dirty="0">
              <a:latin typeface="Footlight MT Light" panose="0204060206030A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D0B6E-56A6-52B3-FD97-F5D928906CF9}"/>
              </a:ext>
            </a:extLst>
          </p:cNvPr>
          <p:cNvSpPr txBox="1"/>
          <p:nvPr/>
        </p:nvSpPr>
        <p:spPr>
          <a:xfrm>
            <a:off x="685555" y="2266525"/>
            <a:ext cx="252814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>
                <a:latin typeface="Footlight MT Light" panose="0204060206030A020304" pitchFamily="18" charset="0"/>
              </a:rPr>
              <a:t>ROUGE Scores</a:t>
            </a:r>
            <a:r>
              <a:rPr lang="en-US" b="1" dirty="0">
                <a:latin typeface="Footlight MT Light" panose="0204060206030A020304" pitchFamily="18" charset="0"/>
              </a:rPr>
              <a:t>:</a:t>
            </a:r>
          </a:p>
          <a:p>
            <a:pPr>
              <a:buNone/>
            </a:pPr>
            <a:endParaRPr lang="en-US" b="1" dirty="0">
              <a:latin typeface="Footlight MT Light" panose="0204060206030A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Footlight MT Light" panose="0204060206030A020304" pitchFamily="18" charset="0"/>
              </a:rPr>
              <a:t>ROUGE-1:</a:t>
            </a:r>
            <a:r>
              <a:rPr lang="en-US" dirty="0">
                <a:latin typeface="Footlight MT Light" panose="0204060206030A020304" pitchFamily="18" charset="0"/>
              </a:rPr>
              <a:t> 0.5723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Footlight MT Light" panose="0204060206030A020304" pitchFamily="18" charset="0"/>
              </a:rPr>
              <a:t>ROUGE-2:</a:t>
            </a:r>
            <a:r>
              <a:rPr lang="en-US" dirty="0">
                <a:latin typeface="Footlight MT Light" panose="0204060206030A020304" pitchFamily="18" charset="0"/>
              </a:rPr>
              <a:t> 0.3547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Footlight MT Light" panose="0204060206030A020304" pitchFamily="18" charset="0"/>
              </a:rPr>
              <a:t>ROUGE-L:</a:t>
            </a:r>
            <a:r>
              <a:rPr lang="en-US" dirty="0">
                <a:latin typeface="Footlight MT Light" panose="0204060206030A020304" pitchFamily="18" charset="0"/>
              </a:rPr>
              <a:t> 0.3169</a:t>
            </a:r>
          </a:p>
          <a:p>
            <a:pPr>
              <a:buFont typeface="Arial" panose="020B0604020202020204" pitchFamily="34" charset="0"/>
              <a:buChar char="•"/>
            </a:pPr>
            <a:endParaRPr lang="en-US" u="sng" dirty="0">
              <a:latin typeface="Footlight MT Light" panose="0204060206030A020304" pitchFamily="18" charset="0"/>
            </a:endParaRPr>
          </a:p>
          <a:p>
            <a:pPr>
              <a:buNone/>
            </a:pPr>
            <a:r>
              <a:rPr lang="en-US" b="1" u="sng" dirty="0" err="1">
                <a:latin typeface="Footlight MT Light" panose="0204060206030A020304" pitchFamily="18" charset="0"/>
              </a:rPr>
              <a:t>BERTScore</a:t>
            </a:r>
            <a:r>
              <a:rPr lang="en-US" b="1" dirty="0">
                <a:latin typeface="Footlight MT Light" panose="0204060206030A020304" pitchFamily="18" charset="0"/>
              </a:rPr>
              <a:t>:</a:t>
            </a:r>
          </a:p>
          <a:p>
            <a:pPr>
              <a:buNone/>
            </a:pPr>
            <a:endParaRPr lang="en-US" b="1" dirty="0">
              <a:latin typeface="Footlight MT Light" panose="0204060206030A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Footlight MT Light" panose="0204060206030A020304" pitchFamily="18" charset="0"/>
              </a:rPr>
              <a:t>Precision:</a:t>
            </a:r>
            <a:r>
              <a:rPr lang="en-US" dirty="0">
                <a:latin typeface="Footlight MT Light" panose="0204060206030A020304" pitchFamily="18" charset="0"/>
              </a:rPr>
              <a:t> 0.8453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Footlight MT Light" panose="0204060206030A020304" pitchFamily="18" charset="0"/>
              </a:rPr>
              <a:t>Recall:</a:t>
            </a:r>
            <a:r>
              <a:rPr lang="en-US" dirty="0">
                <a:latin typeface="Footlight MT Light" panose="0204060206030A020304" pitchFamily="18" charset="0"/>
              </a:rPr>
              <a:t> 0.8535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Footlight MT Light" panose="0204060206030A020304" pitchFamily="18" charset="0"/>
              </a:rPr>
              <a:t>F1 Score:</a:t>
            </a:r>
            <a:r>
              <a:rPr lang="en-US" dirty="0">
                <a:latin typeface="Footlight MT Light" panose="0204060206030A020304" pitchFamily="18" charset="0"/>
              </a:rPr>
              <a:t> </a:t>
            </a:r>
            <a:r>
              <a:rPr lang="en-US" b="1" dirty="0">
                <a:latin typeface="Footlight MT Light" panose="0204060206030A020304" pitchFamily="18" charset="0"/>
              </a:rPr>
              <a:t>0.8493</a:t>
            </a:r>
            <a:endParaRPr lang="en-US" dirty="0">
              <a:latin typeface="Footlight MT Light" panose="0204060206030A020304" pitchFamily="18" charset="0"/>
            </a:endParaRPr>
          </a:p>
        </p:txBody>
      </p:sp>
      <p:cxnSp>
        <p:nvCxnSpPr>
          <p:cNvPr id="7" name="Google Shape;251;p38">
            <a:extLst>
              <a:ext uri="{FF2B5EF4-FFF2-40B4-BE49-F238E27FC236}">
                <a16:creationId xmlns:a16="http://schemas.microsoft.com/office/drawing/2014/main" id="{C4F1398C-86E0-6819-F8C7-49B4008DE6A8}"/>
              </a:ext>
            </a:extLst>
          </p:cNvPr>
          <p:cNvCxnSpPr>
            <a:cxnSpLocks/>
          </p:cNvCxnSpPr>
          <p:nvPr/>
        </p:nvCxnSpPr>
        <p:spPr>
          <a:xfrm>
            <a:off x="3778697" y="2149089"/>
            <a:ext cx="0" cy="257964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D17395-DA3C-640E-D43B-8133A91BD635}"/>
              </a:ext>
            </a:extLst>
          </p:cNvPr>
          <p:cNvSpPr txBox="1"/>
          <p:nvPr/>
        </p:nvSpPr>
        <p:spPr>
          <a:xfrm>
            <a:off x="4028289" y="2149089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>
                <a:latin typeface="Footlight MT Light" panose="0204060206030A020304" pitchFamily="18" charset="0"/>
              </a:rPr>
              <a:t>Key Observations:</a:t>
            </a:r>
          </a:p>
          <a:p>
            <a:pPr>
              <a:buNone/>
            </a:pPr>
            <a:endParaRPr lang="en-US" b="1" u="sng" dirty="0">
              <a:latin typeface="Footlight MT Light" panose="0204060206030A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Footlight MT Light" panose="0204060206030A020304" pitchFamily="18" charset="0"/>
              </a:rPr>
              <a:t>High semantic fidelity</a:t>
            </a:r>
            <a:r>
              <a:rPr lang="en-US" dirty="0">
                <a:latin typeface="Footlight MT Light" panose="0204060206030A020304" pitchFamily="18" charset="0"/>
              </a:rPr>
              <a:t> (</a:t>
            </a:r>
            <a:r>
              <a:rPr lang="en-US" dirty="0" err="1">
                <a:latin typeface="Footlight MT Light" panose="0204060206030A020304" pitchFamily="18" charset="0"/>
              </a:rPr>
              <a:t>BERTScore</a:t>
            </a:r>
            <a:r>
              <a:rPr lang="en-US" dirty="0">
                <a:latin typeface="Footlight MT Light" panose="0204060206030A020304" pitchFamily="18" charset="0"/>
              </a:rPr>
              <a:t> 0.8493) shows the model captures legal meaning well.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Footlight MT Light" panose="0204060206030A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Footlight MT Light" panose="0204060206030A020304" pitchFamily="18" charset="0"/>
              </a:rPr>
              <a:t>Good bigram retention</a:t>
            </a:r>
            <a:r>
              <a:rPr lang="en-US" dirty="0">
                <a:latin typeface="Footlight MT Light" panose="0204060206030A020304" pitchFamily="18" charset="0"/>
              </a:rPr>
              <a:t> (ROUGE-2 0.3547) suggests the summaries preserve key phrases from judgments.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Footlight MT Light" panose="0204060206030A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Footlight MT Light" panose="0204060206030A020304" pitchFamily="18" charset="0"/>
              </a:rPr>
              <a:t>Slightly lower ROUGE-L</a:t>
            </a:r>
            <a:r>
              <a:rPr lang="en-US" dirty="0">
                <a:latin typeface="Footlight MT Light" panose="0204060206030A020304" pitchFamily="18" charset="0"/>
              </a:rPr>
              <a:t> indicates room for improvement in capturing long-span logical flow across sentences.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ootlight MT Light" panose="0204060206030A020304" pitchFamily="18" charset="0"/>
              </a:rPr>
              <a:t>The approach generalizes well to unseen test samples, validating the ETA + </a:t>
            </a:r>
            <a:r>
              <a:rPr lang="en-US" dirty="0" err="1">
                <a:latin typeface="Footlight MT Light" panose="0204060206030A020304" pitchFamily="18" charset="0"/>
              </a:rPr>
              <a:t>LoRA</a:t>
            </a:r>
            <a:r>
              <a:rPr lang="en-US" dirty="0">
                <a:latin typeface="Footlight MT Light" panose="0204060206030A020304" pitchFamily="18" charset="0"/>
              </a:rPr>
              <a:t> pipeline.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5DDE-01AF-807F-9A15-C255E0B8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00" y="147615"/>
            <a:ext cx="7704000" cy="572700"/>
          </a:xfrm>
        </p:spPr>
        <p:txBody>
          <a:bodyPr/>
          <a:lstStyle/>
          <a:p>
            <a:r>
              <a:rPr lang="en-IN" sz="3600" dirty="0"/>
              <a:t>Loss Curve</a:t>
            </a:r>
          </a:p>
        </p:txBody>
      </p:sp>
      <p:cxnSp>
        <p:nvCxnSpPr>
          <p:cNvPr id="3" name="Google Shape;251;p38">
            <a:extLst>
              <a:ext uri="{FF2B5EF4-FFF2-40B4-BE49-F238E27FC236}">
                <a16:creationId xmlns:a16="http://schemas.microsoft.com/office/drawing/2014/main" id="{ADD6ECBC-1B4F-89D6-422C-6AB73776932B}"/>
              </a:ext>
            </a:extLst>
          </p:cNvPr>
          <p:cNvCxnSpPr/>
          <p:nvPr/>
        </p:nvCxnSpPr>
        <p:spPr>
          <a:xfrm>
            <a:off x="693000" y="802698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A graph with red and blue lines">
            <a:extLst>
              <a:ext uri="{FF2B5EF4-FFF2-40B4-BE49-F238E27FC236}">
                <a16:creationId xmlns:a16="http://schemas.microsoft.com/office/drawing/2014/main" id="{981C0ABB-DB8F-4D39-ECBC-A7E15D7B7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229" y="1011647"/>
            <a:ext cx="5917588" cy="398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53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251;p38">
            <a:extLst>
              <a:ext uri="{FF2B5EF4-FFF2-40B4-BE49-F238E27FC236}">
                <a16:creationId xmlns:a16="http://schemas.microsoft.com/office/drawing/2014/main" id="{9C3BAA6C-B64C-17BA-201D-B8F328CF501C}"/>
              </a:ext>
            </a:extLst>
          </p:cNvPr>
          <p:cNvCxnSpPr/>
          <p:nvPr/>
        </p:nvCxnSpPr>
        <p:spPr>
          <a:xfrm>
            <a:off x="594988" y="887634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0DC396-D350-181C-238F-6098AB62ACF6}"/>
              </a:ext>
            </a:extLst>
          </p:cNvPr>
          <p:cNvSpPr txBox="1"/>
          <p:nvPr/>
        </p:nvSpPr>
        <p:spPr>
          <a:xfrm>
            <a:off x="594988" y="138909"/>
            <a:ext cx="2478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Footlight MT Light" panose="0204060206030A020304" pitchFamily="18" charset="0"/>
              </a:rPr>
              <a:t>Conclusions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F4E0DB-1AF0-0140-6E97-43E7A250CC2F}"/>
              </a:ext>
            </a:extLst>
          </p:cNvPr>
          <p:cNvSpPr txBox="1"/>
          <p:nvPr/>
        </p:nvSpPr>
        <p:spPr>
          <a:xfrm>
            <a:off x="594988" y="1095177"/>
            <a:ext cx="74672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Footlight MT Light" panose="0204060206030A020304" pitchFamily="18" charset="0"/>
              </a:rPr>
              <a:t>We overcame the twin challenges of input length limits and data scarcity in legal summarization by employing the </a:t>
            </a:r>
            <a:r>
              <a:rPr lang="en-GB" b="1" dirty="0">
                <a:latin typeface="Footlight MT Light" panose="0204060206030A020304" pitchFamily="18" charset="0"/>
              </a:rPr>
              <a:t>Extract-then-Assign (ETA)</a:t>
            </a:r>
            <a:r>
              <a:rPr lang="en-GB" dirty="0">
                <a:latin typeface="Footlight MT Light" panose="0204060206030A020304" pitchFamily="18" charset="0"/>
              </a:rPr>
              <a:t> dataset generation strategy. This approach successfully created a high-quality, large training dataset from existing legal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Footlight MT Light" panose="0204060206030A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Footlight MT Light" panose="0204060206030A020304" pitchFamily="18" charset="0"/>
              </a:rPr>
              <a:t>The </a:t>
            </a:r>
            <a:r>
              <a:rPr lang="en-GB" b="1" dirty="0">
                <a:latin typeface="Footlight MT Light" panose="0204060206030A020304" pitchFamily="18" charset="0"/>
              </a:rPr>
              <a:t>BART-Large model </a:t>
            </a:r>
            <a:r>
              <a:rPr lang="en-GB" dirty="0">
                <a:latin typeface="Footlight MT Light" panose="0204060206030A020304" pitchFamily="18" charset="0"/>
              </a:rPr>
              <a:t>was efficiently adapted for this domain using </a:t>
            </a:r>
            <a:r>
              <a:rPr lang="en-GB" b="1" dirty="0">
                <a:latin typeface="Footlight MT Light" panose="0204060206030A020304" pitchFamily="18" charset="0"/>
              </a:rPr>
              <a:t>PEFT </a:t>
            </a:r>
            <a:r>
              <a:rPr lang="en-GB" b="1" dirty="0" err="1">
                <a:latin typeface="Footlight MT Light" panose="0204060206030A020304" pitchFamily="18" charset="0"/>
              </a:rPr>
              <a:t>LoRA</a:t>
            </a:r>
            <a:r>
              <a:rPr lang="en-GB" dirty="0">
                <a:latin typeface="Footlight MT Light" panose="0204060206030A020304" pitchFamily="18" charset="0"/>
              </a:rPr>
              <a:t>. This method minimized training cost while ensuring strong abstractive summarization performance on document chunks.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Footlight MT Light" panose="0204060206030A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Footlight MT Light" panose="0204060206030A020304" pitchFamily="18" charset="0"/>
              </a:rPr>
              <a:t>The final model demonstrated strong performance, achieving a </a:t>
            </a:r>
            <a:r>
              <a:rPr lang="en-GB" b="1" dirty="0" err="1">
                <a:latin typeface="Footlight MT Light" panose="0204060206030A020304" pitchFamily="18" charset="0"/>
              </a:rPr>
              <a:t>BERTScore</a:t>
            </a:r>
            <a:r>
              <a:rPr lang="en-GB" b="1" dirty="0">
                <a:latin typeface="Footlight MT Light" panose="0204060206030A020304" pitchFamily="18" charset="0"/>
              </a:rPr>
              <a:t> F1 of 0.8493 </a:t>
            </a:r>
            <a:r>
              <a:rPr lang="en-GB" dirty="0">
                <a:latin typeface="Footlight MT Light" panose="0204060206030A020304" pitchFamily="18" charset="0"/>
              </a:rPr>
              <a:t>(high semantic fidelity) and a </a:t>
            </a:r>
            <a:r>
              <a:rPr lang="en-GB" b="1" dirty="0">
                <a:latin typeface="Footlight MT Light" panose="0204060206030A020304" pitchFamily="18" charset="0"/>
              </a:rPr>
              <a:t>ROUGE-2 score of 0.3547 </a:t>
            </a:r>
            <a:r>
              <a:rPr lang="en-GB" dirty="0">
                <a:latin typeface="Footlight MT Light" panose="0204060206030A020304" pitchFamily="18" charset="0"/>
              </a:rPr>
              <a:t>(good phrase retention). This validates the </a:t>
            </a:r>
            <a:r>
              <a:rPr lang="en-GB" b="1" dirty="0">
                <a:latin typeface="Footlight MT Light" panose="0204060206030A020304" pitchFamily="18" charset="0"/>
              </a:rPr>
              <a:t>ETA + </a:t>
            </a:r>
            <a:r>
              <a:rPr lang="en-GB" b="1" dirty="0" err="1">
                <a:latin typeface="Footlight MT Light" panose="0204060206030A020304" pitchFamily="18" charset="0"/>
              </a:rPr>
              <a:t>LoRA</a:t>
            </a:r>
            <a:r>
              <a:rPr lang="en-GB" b="1" dirty="0">
                <a:latin typeface="Footlight MT Light" panose="0204060206030A020304" pitchFamily="18" charset="0"/>
              </a:rPr>
              <a:t> </a:t>
            </a:r>
            <a:r>
              <a:rPr lang="en-GB" dirty="0">
                <a:latin typeface="Footlight MT Light" panose="0204060206030A020304" pitchFamily="18" charset="0"/>
              </a:rPr>
              <a:t>pipeline for generating concise, legally faithful summaries.</a:t>
            </a:r>
            <a:endParaRPr lang="en-IN" dirty="0">
              <a:latin typeface="Footlight MT Light" panose="0204060206030A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426D-E878-DC98-6569-05E9DBD21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21" y="-51778"/>
            <a:ext cx="3597900" cy="1063200"/>
          </a:xfrm>
        </p:spPr>
        <p:txBody>
          <a:bodyPr/>
          <a:lstStyle/>
          <a:p>
            <a:r>
              <a:rPr lang="en-IN" sz="3600" dirty="0"/>
              <a:t>Future Work: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E5C47-E845-B193-44EF-5C29EAE86CB3}"/>
              </a:ext>
            </a:extLst>
          </p:cNvPr>
          <p:cNvSpPr txBox="1"/>
          <p:nvPr/>
        </p:nvSpPr>
        <p:spPr>
          <a:xfrm>
            <a:off x="458885" y="1340643"/>
            <a:ext cx="377637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Footlight MT Light" panose="0204060206030A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ootlight MT Light" panose="0204060206030A020304" pitchFamily="18" charset="0"/>
              </a:rPr>
              <a:t>Use advanced long-document transformers (</a:t>
            </a:r>
            <a:r>
              <a:rPr lang="en-IN" b="1" dirty="0" err="1">
                <a:latin typeface="Footlight MT Light" panose="0204060206030A020304" pitchFamily="18" charset="0"/>
              </a:rPr>
              <a:t>Longformer</a:t>
            </a:r>
            <a:r>
              <a:rPr lang="en-IN" b="1" dirty="0">
                <a:latin typeface="Footlight MT Light" panose="0204060206030A020304" pitchFamily="18" charset="0"/>
              </a:rPr>
              <a:t>-Encoder-Decoder (LED)</a:t>
            </a:r>
            <a:r>
              <a:rPr lang="en-IN" dirty="0">
                <a:latin typeface="Footlight MT Light" panose="0204060206030A020304" pitchFamily="18" charset="0"/>
              </a:rPr>
              <a:t>, </a:t>
            </a:r>
            <a:r>
              <a:rPr lang="en-IN" b="1" dirty="0" err="1">
                <a:latin typeface="Footlight MT Light" panose="0204060206030A020304" pitchFamily="18" charset="0"/>
              </a:rPr>
              <a:t>BigBird</a:t>
            </a:r>
            <a:r>
              <a:rPr lang="en-IN" b="1" dirty="0">
                <a:latin typeface="Footlight MT Light" panose="0204060206030A020304" pitchFamily="18" charset="0"/>
              </a:rPr>
              <a:t> Pegasus</a:t>
            </a:r>
            <a:r>
              <a:rPr lang="en-IN" dirty="0">
                <a:latin typeface="Footlight MT Light" panose="0204060206030A020304" pitchFamily="18" charset="0"/>
              </a:rPr>
              <a:t>, or </a:t>
            </a:r>
            <a:r>
              <a:rPr lang="en-IN" b="1" dirty="0">
                <a:latin typeface="Footlight MT Light" panose="0204060206030A020304" pitchFamily="18" charset="0"/>
              </a:rPr>
              <a:t>Pegasus-X</a:t>
            </a:r>
            <a:r>
              <a:rPr lang="en-US" dirty="0">
                <a:latin typeface="Footlight MT Light" panose="0204060206030A020304" pitchFamily="18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Footlight MT Light" panose="0204060206030A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Footlight MT Light" panose="0204060206030A020304" pitchFamily="18" charset="0"/>
              </a:rPr>
              <a:t>Expansion to Multilingual Indian Legal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Footlight MT Light" panose="0204060206030A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ootlight MT Light" panose="0204060206030A020304" pitchFamily="18" charset="0"/>
              </a:rPr>
              <a:t>Use </a:t>
            </a:r>
            <a:r>
              <a:rPr lang="en-US" b="1" dirty="0">
                <a:latin typeface="Footlight MT Light" panose="0204060206030A020304" pitchFamily="18" charset="0"/>
              </a:rPr>
              <a:t>RAG (Retrieval-Augmented Generation)</a:t>
            </a:r>
            <a:r>
              <a:rPr lang="en-US" dirty="0">
                <a:latin typeface="Footlight MT Light" panose="0204060206030A020304" pitchFamily="18" charset="0"/>
              </a:rPr>
              <a:t> to bring external legal knowledge into summaries.</a:t>
            </a:r>
            <a:endParaRPr lang="en-IN" dirty="0">
              <a:latin typeface="Footlight MT Light" panose="0204060206030A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B9B75B-2FFF-0240-B57B-B3DAF8884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66318"/>
            <a:ext cx="4295115" cy="2366290"/>
          </a:xfrm>
          <a:prstGeom prst="rect">
            <a:avLst/>
          </a:prstGeom>
        </p:spPr>
      </p:pic>
      <p:cxnSp>
        <p:nvCxnSpPr>
          <p:cNvPr id="9" name="Google Shape;251;p38">
            <a:extLst>
              <a:ext uri="{FF2B5EF4-FFF2-40B4-BE49-F238E27FC236}">
                <a16:creationId xmlns:a16="http://schemas.microsoft.com/office/drawing/2014/main" id="{B608A756-BB69-92DC-BC19-6DC01DDF37AD}"/>
              </a:ext>
            </a:extLst>
          </p:cNvPr>
          <p:cNvCxnSpPr/>
          <p:nvPr/>
        </p:nvCxnSpPr>
        <p:spPr>
          <a:xfrm>
            <a:off x="644623" y="1011422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43536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628A6-9D1A-8780-8F09-7BFF8A947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988" y="435170"/>
            <a:ext cx="3597900" cy="643683"/>
          </a:xfrm>
        </p:spPr>
        <p:txBody>
          <a:bodyPr/>
          <a:lstStyle/>
          <a:p>
            <a:r>
              <a:rPr lang="en-IN" sz="3600" dirty="0"/>
              <a:t>References: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8D22D-B97F-EE78-FAD7-3C65FEA16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988" y="1260462"/>
            <a:ext cx="7842768" cy="3698112"/>
          </a:xfrm>
        </p:spPr>
        <p:txBody>
          <a:bodyPr/>
          <a:lstStyle/>
          <a:p>
            <a:r>
              <a:rPr lang="en-IN" sz="1400" dirty="0"/>
              <a:t>[1] D. Jain, M. D. Borah, and A. Biswas, “Summarization of lengthy legal documents via abstractive dataset building: An extract-then-assign approach,” Expert Systems with Applications, vol. 237, p. 121571, 2024.</a:t>
            </a:r>
          </a:p>
          <a:p>
            <a:endParaRPr lang="en-IN" sz="1400" dirty="0"/>
          </a:p>
          <a:p>
            <a:r>
              <a:rPr lang="en-IN" sz="1400" dirty="0"/>
              <a:t>[2] C. Raffel, N. </a:t>
            </a:r>
            <a:r>
              <a:rPr lang="en-IN" sz="1400" dirty="0" err="1"/>
              <a:t>Shazeer</a:t>
            </a:r>
            <a:r>
              <a:rPr lang="en-IN" sz="1400" dirty="0"/>
              <a:t>, A. Roberts, K. Lee, S. Narang, M. </a:t>
            </a:r>
            <a:r>
              <a:rPr lang="en-IN" sz="1400" dirty="0" err="1"/>
              <a:t>Matena</a:t>
            </a:r>
            <a:r>
              <a:rPr lang="en-IN" sz="1400" dirty="0"/>
              <a:t>, Y. Zhou, W. Li, and P. J. Liu, “Exploring the limits of transfer learning with a unified text-to-text transformer,” Journal of Machine Learning Research, vol. 21, no. 140, pp. 1–67, 2020.</a:t>
            </a:r>
          </a:p>
          <a:p>
            <a:endParaRPr lang="en-IN" sz="1400" dirty="0"/>
          </a:p>
          <a:p>
            <a:r>
              <a:rPr lang="en-IN" sz="1400" dirty="0"/>
              <a:t> [3] M. Lewis, Y. Liu, N. Goyal, M. </a:t>
            </a:r>
            <a:r>
              <a:rPr lang="en-IN" sz="1400" dirty="0" err="1"/>
              <a:t>Ghazvininejad</a:t>
            </a:r>
            <a:r>
              <a:rPr lang="en-IN" sz="1400" dirty="0"/>
              <a:t>, A. Mohammad, O. Zettlemoyer, and L. Zettlemoyer, “Bart: Denoising sequence-to-sequence pre-training for natural language generation, translation, and comprehension,” in Proceedings of ACL, 2019.</a:t>
            </a:r>
          </a:p>
          <a:p>
            <a:endParaRPr lang="en-IN" sz="1400" dirty="0"/>
          </a:p>
          <a:p>
            <a:r>
              <a:rPr lang="en-IN" sz="1400" dirty="0"/>
              <a:t>[4] M. Zaheer, S. Gao, L. A. Dalvi, J. Li, and A. Smola, “Big bird: Transformers for longer sequences,” in Advances in Neural Information Processing Systems, 2020. </a:t>
            </a:r>
          </a:p>
          <a:p>
            <a:endParaRPr lang="en-IN" sz="1400" dirty="0"/>
          </a:p>
          <a:p>
            <a:r>
              <a:rPr lang="en-IN" sz="1400" dirty="0"/>
              <a:t>[5] I. </a:t>
            </a:r>
            <a:r>
              <a:rPr lang="en-IN" sz="1400" dirty="0" err="1"/>
              <a:t>Beltagy</a:t>
            </a:r>
            <a:r>
              <a:rPr lang="en-IN" sz="1400" dirty="0"/>
              <a:t>, M. E. Peters, and A. Cohan, “</a:t>
            </a:r>
            <a:r>
              <a:rPr lang="en-IN" sz="1400" dirty="0" err="1"/>
              <a:t>Longformer</a:t>
            </a:r>
            <a:r>
              <a:rPr lang="en-IN" sz="1400" dirty="0"/>
              <a:t>: The long-document transformer,” </a:t>
            </a:r>
            <a:r>
              <a:rPr lang="en-IN" sz="1400" dirty="0" err="1"/>
              <a:t>arXiv</a:t>
            </a:r>
            <a:r>
              <a:rPr lang="en-IN" sz="1400" dirty="0"/>
              <a:t> preprint arXiv:2004.05150, 2020</a:t>
            </a:r>
          </a:p>
          <a:p>
            <a:endParaRPr lang="en-IN" dirty="0"/>
          </a:p>
        </p:txBody>
      </p:sp>
      <p:cxnSp>
        <p:nvCxnSpPr>
          <p:cNvPr id="4" name="Google Shape;251;p38">
            <a:extLst>
              <a:ext uri="{FF2B5EF4-FFF2-40B4-BE49-F238E27FC236}">
                <a16:creationId xmlns:a16="http://schemas.microsoft.com/office/drawing/2014/main" id="{246076D3-9F6B-15BC-993C-F461F5B147CD}"/>
              </a:ext>
            </a:extLst>
          </p:cNvPr>
          <p:cNvCxnSpPr/>
          <p:nvPr/>
        </p:nvCxnSpPr>
        <p:spPr>
          <a:xfrm>
            <a:off x="594988" y="1078853"/>
            <a:ext cx="771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46068180"/>
      </p:ext>
    </p:extLst>
  </p:cSld>
  <p:clrMapOvr>
    <a:masterClrMapping/>
  </p:clrMapOvr>
</p:sld>
</file>

<file path=ppt/theme/theme1.xml><?xml version="1.0" encoding="utf-8"?>
<a:theme xmlns:a="http://schemas.openxmlformats.org/drawingml/2006/main" name="Blue Simple Theme by Slidesgo">
  <a:themeElements>
    <a:clrScheme name="Simple Light">
      <a:dk1>
        <a:srgbClr val="021024"/>
      </a:dk1>
      <a:lt1>
        <a:srgbClr val="CAF2FF"/>
      </a:lt1>
      <a:dk2>
        <a:srgbClr val="023373"/>
      </a:dk2>
      <a:lt2>
        <a:srgbClr val="0487D9"/>
      </a:lt2>
      <a:accent1>
        <a:srgbClr val="63D8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10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1348</Words>
  <Application>Microsoft Office PowerPoint</Application>
  <PresentationFormat>On-screen Show (16:9)</PresentationFormat>
  <Paragraphs>144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Anaheim</vt:lpstr>
      <vt:lpstr>Outfit</vt:lpstr>
      <vt:lpstr>Nunito Light</vt:lpstr>
      <vt:lpstr>Raleway</vt:lpstr>
      <vt:lpstr>Bebas Neue</vt:lpstr>
      <vt:lpstr>Footlight MT Light</vt:lpstr>
      <vt:lpstr>Arimo</vt:lpstr>
      <vt:lpstr>Arial</vt:lpstr>
      <vt:lpstr>Open Sans Light</vt:lpstr>
      <vt:lpstr>Blue Simple Theme by Slidesgo</vt:lpstr>
      <vt:lpstr>Legal Document Summarization using Transformers</vt:lpstr>
      <vt:lpstr>Roles And Responsibilities</vt:lpstr>
      <vt:lpstr>Introduction</vt:lpstr>
      <vt:lpstr>PowerPoint Presentation</vt:lpstr>
      <vt:lpstr>PowerPoint Presentation</vt:lpstr>
      <vt:lpstr>Literature Review</vt:lpstr>
      <vt:lpstr>Literature Review</vt:lpstr>
      <vt:lpstr>PowerPoint Presentation</vt:lpstr>
      <vt:lpstr>PowerPoint Presentation</vt:lpstr>
      <vt:lpstr>PowerPoint Presentation</vt:lpstr>
      <vt:lpstr>PowerPoint Presentation</vt:lpstr>
      <vt:lpstr>Results and Discussions</vt:lpstr>
      <vt:lpstr>Loss Curve</vt:lpstr>
      <vt:lpstr>PowerPoint Presentation</vt:lpstr>
      <vt:lpstr>Future Work: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Dheeraj Banavath</cp:lastModifiedBy>
  <cp:revision>3</cp:revision>
  <dcterms:modified xsi:type="dcterms:W3CDTF">2025-11-18T18:23:23Z</dcterms:modified>
</cp:coreProperties>
</file>